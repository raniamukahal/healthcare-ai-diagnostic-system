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anva Sans Bold" panose="020B0604020202020204" charset="0"/>
      <p:regular r:id="rId12"/>
    </p:embeddedFont>
    <p:embeddedFont>
      <p:font typeface="IBM Plex Sans" panose="020B0503050203000203" pitchFamily="34" charset="0"/>
      <p:regular r:id="rId13"/>
    </p:embeddedFont>
    <p:embeddedFont>
      <p:font typeface="IBM Plex Sans Bold" panose="020B0604020202020204" charset="0"/>
      <p:regular r:id="rId14"/>
    </p:embeddedFont>
    <p:embeddedFont>
      <p:font typeface="Poppins" panose="00000500000000000000" pitchFamily="2" charset="0"/>
      <p:regular r:id="rId15"/>
    </p:embeddedFont>
    <p:embeddedFont>
      <p:font typeface="Poppins Bold" panose="00000800000000000000" charset="0"/>
      <p:regular r:id="rId16"/>
    </p:embeddedFont>
    <p:embeddedFont>
      <p:font typeface="Poppins Semi-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802"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ia mukahal" userId="7a56ae10269dc7b3" providerId="LiveId" clId="{32A8EBD5-6353-4636-ABBC-C44E9F71565B}"/>
    <pc:docChg chg="modSld">
      <pc:chgData name="rania mukahal" userId="7a56ae10269dc7b3" providerId="LiveId" clId="{32A8EBD5-6353-4636-ABBC-C44E9F71565B}" dt="2025-01-27T15:28:07.318" v="5" actId="1076"/>
      <pc:docMkLst>
        <pc:docMk/>
      </pc:docMkLst>
      <pc:sldChg chg="modSp mod">
        <pc:chgData name="rania mukahal" userId="7a56ae10269dc7b3" providerId="LiveId" clId="{32A8EBD5-6353-4636-ABBC-C44E9F71565B}" dt="2025-01-27T15:28:07.318" v="5" actId="1076"/>
        <pc:sldMkLst>
          <pc:docMk/>
          <pc:sldMk cId="0" sldId="259"/>
        </pc:sldMkLst>
        <pc:spChg chg="mod">
          <ac:chgData name="rania mukahal" userId="7a56ae10269dc7b3" providerId="LiveId" clId="{32A8EBD5-6353-4636-ABBC-C44E9F71565B}" dt="2025-01-27T15:28:07.318" v="5" actId="1076"/>
          <ac:spMkLst>
            <pc:docMk/>
            <pc:sldMk cId="0" sldId="259"/>
            <ac:spMk id="4"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02127">
                <a:alpha val="100000"/>
              </a:srgbClr>
            </a:gs>
            <a:gs pos="100000">
              <a:srgbClr val="17181B">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9900480" y="-2123648"/>
            <a:ext cx="11381948" cy="1138194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58CE"/>
            </a:solidFill>
          </p:spPr>
          <p:txBody>
            <a:bodyPr/>
            <a:lstStyle/>
            <a:p>
              <a:endParaRPr lang="en-US"/>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grpSp>
        <p:nvGrpSpPr>
          <p:cNvPr id="5" name="Group 5"/>
          <p:cNvGrpSpPr/>
          <p:nvPr/>
        </p:nvGrpSpPr>
        <p:grpSpPr>
          <a:xfrm>
            <a:off x="10293183" y="-1730945"/>
            <a:ext cx="10596542" cy="1059654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65241" r="-7172" b="-14870"/>
              </a:stretch>
            </a:blipFill>
          </p:spPr>
          <p:txBody>
            <a:bodyPr/>
            <a:lstStyle/>
            <a:p>
              <a:endParaRPr lang="en-US"/>
            </a:p>
          </p:txBody>
        </p:sp>
      </p:grpSp>
      <p:sp>
        <p:nvSpPr>
          <p:cNvPr id="7" name="TextBox 7"/>
          <p:cNvSpPr txBox="1"/>
          <p:nvPr/>
        </p:nvSpPr>
        <p:spPr>
          <a:xfrm>
            <a:off x="1469243" y="2284682"/>
            <a:ext cx="8617899" cy="2708163"/>
          </a:xfrm>
          <a:prstGeom prst="rect">
            <a:avLst/>
          </a:prstGeom>
        </p:spPr>
        <p:txBody>
          <a:bodyPr lIns="0" tIns="0" rIns="0" bIns="0" rtlCol="0" anchor="t">
            <a:spAutoFit/>
          </a:bodyPr>
          <a:lstStyle/>
          <a:p>
            <a:pPr algn="ctr">
              <a:lnSpc>
                <a:spcPts val="9996"/>
              </a:lnSpc>
            </a:pPr>
            <a:r>
              <a:rPr lang="en-US" sz="10413" b="1" spc="-531">
                <a:solidFill>
                  <a:srgbClr val="FFFFFF"/>
                </a:solidFill>
                <a:latin typeface="Poppins Semi-Bold"/>
                <a:ea typeface="Poppins Semi-Bold"/>
                <a:cs typeface="Poppins Semi-Bold"/>
                <a:sym typeface="Poppins Semi-Bold"/>
              </a:rPr>
              <a:t>PROJECT PROPOSAL </a:t>
            </a:r>
          </a:p>
        </p:txBody>
      </p:sp>
      <p:sp>
        <p:nvSpPr>
          <p:cNvPr id="8" name="TextBox 8"/>
          <p:cNvSpPr txBox="1"/>
          <p:nvPr/>
        </p:nvSpPr>
        <p:spPr>
          <a:xfrm>
            <a:off x="3521303" y="7221055"/>
            <a:ext cx="4513779" cy="481330"/>
          </a:xfrm>
          <a:prstGeom prst="rect">
            <a:avLst/>
          </a:prstGeom>
        </p:spPr>
        <p:txBody>
          <a:bodyPr lIns="0" tIns="0" rIns="0" bIns="0" rtlCol="0" anchor="t">
            <a:spAutoFit/>
          </a:bodyPr>
          <a:lstStyle/>
          <a:p>
            <a:pPr algn="ctr">
              <a:lnSpc>
                <a:spcPts val="3919"/>
              </a:lnSpc>
              <a:spcBef>
                <a:spcPct val="0"/>
              </a:spcBef>
            </a:pPr>
            <a:r>
              <a:rPr lang="en-US" sz="2799">
                <a:solidFill>
                  <a:srgbClr val="FFFFFF"/>
                </a:solidFill>
                <a:latin typeface="IBM Plex Sans"/>
                <a:ea typeface="IBM Plex Sans"/>
                <a:cs typeface="IBM Plex Sans"/>
                <a:sym typeface="IBM Plex Sans"/>
              </a:rPr>
              <a:t>Prepares by: Rania Mukahal </a:t>
            </a:r>
          </a:p>
        </p:txBody>
      </p:sp>
      <p:sp>
        <p:nvSpPr>
          <p:cNvPr id="9" name="TextBox 9"/>
          <p:cNvSpPr txBox="1"/>
          <p:nvPr/>
        </p:nvSpPr>
        <p:spPr>
          <a:xfrm>
            <a:off x="0" y="7980679"/>
            <a:ext cx="11556385" cy="976630"/>
          </a:xfrm>
          <a:prstGeom prst="rect">
            <a:avLst/>
          </a:prstGeom>
        </p:spPr>
        <p:txBody>
          <a:bodyPr lIns="0" tIns="0" rIns="0" bIns="0" rtlCol="0" anchor="t">
            <a:spAutoFit/>
          </a:bodyPr>
          <a:lstStyle/>
          <a:p>
            <a:pPr algn="ctr">
              <a:lnSpc>
                <a:spcPts val="3919"/>
              </a:lnSpc>
              <a:spcBef>
                <a:spcPct val="0"/>
              </a:spcBef>
            </a:pPr>
            <a:r>
              <a:rPr lang="en-US" sz="2799">
                <a:solidFill>
                  <a:srgbClr val="FFFFFF"/>
                </a:solidFill>
                <a:latin typeface="IBM Plex Sans"/>
                <a:ea typeface="IBM Plex Sans"/>
                <a:cs typeface="IBM Plex Sans"/>
                <a:sym typeface="IBM Plex Sans"/>
              </a:rPr>
              <a:t>Prepare For: Al Haramain Hospital and its subsidiary Salma Medical Center</a:t>
            </a:r>
          </a:p>
        </p:txBody>
      </p:sp>
      <p:sp>
        <p:nvSpPr>
          <p:cNvPr id="10" name="TextBox 10"/>
          <p:cNvSpPr txBox="1"/>
          <p:nvPr/>
        </p:nvSpPr>
        <p:spPr>
          <a:xfrm>
            <a:off x="2138095" y="5038725"/>
            <a:ext cx="7280196" cy="1009652"/>
          </a:xfrm>
          <a:prstGeom prst="rect">
            <a:avLst/>
          </a:prstGeom>
        </p:spPr>
        <p:txBody>
          <a:bodyPr lIns="0" tIns="0" rIns="0" bIns="0" rtlCol="0" anchor="t">
            <a:spAutoFit/>
          </a:bodyPr>
          <a:lstStyle/>
          <a:p>
            <a:pPr algn="ctr">
              <a:lnSpc>
                <a:spcPts val="8399"/>
              </a:lnSpc>
              <a:spcBef>
                <a:spcPct val="0"/>
              </a:spcBef>
            </a:pPr>
            <a:r>
              <a:rPr lang="en-US" sz="5999">
                <a:solidFill>
                  <a:srgbClr val="FFFFFF"/>
                </a:solidFill>
                <a:latin typeface="IBM Plex Sans"/>
                <a:ea typeface="IBM Plex Sans"/>
                <a:cs typeface="IBM Plex Sans"/>
                <a:sym typeface="IBM Plex Sans"/>
              </a:rPr>
              <a:t>AI Diagnostic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202127">
                <a:alpha val="100000"/>
              </a:srgbClr>
            </a:gs>
            <a:gs pos="100000">
              <a:srgbClr val="17181B">
                <a:alpha val="100000"/>
              </a:srgbClr>
            </a:gs>
          </a:gsLst>
          <a:lin ang="0"/>
        </a:gradFill>
        <a:effectLst/>
      </p:bgPr>
    </p:bg>
    <p:spTree>
      <p:nvGrpSpPr>
        <p:cNvPr id="1" name=""/>
        <p:cNvGrpSpPr/>
        <p:nvPr/>
      </p:nvGrpSpPr>
      <p:grpSpPr>
        <a:xfrm>
          <a:off x="0" y="0"/>
          <a:ext cx="0" cy="0"/>
          <a:chOff x="0" y="0"/>
          <a:chExt cx="0" cy="0"/>
        </a:xfrm>
      </p:grpSpPr>
      <p:grpSp>
        <p:nvGrpSpPr>
          <p:cNvPr id="5" name="Group 5"/>
          <p:cNvGrpSpPr/>
          <p:nvPr/>
        </p:nvGrpSpPr>
        <p:grpSpPr>
          <a:xfrm>
            <a:off x="1028700" y="2153156"/>
            <a:ext cx="7347653" cy="734765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58CE"/>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grpSp>
        <p:nvGrpSpPr>
          <p:cNvPr id="8" name="Group 8"/>
          <p:cNvGrpSpPr/>
          <p:nvPr/>
        </p:nvGrpSpPr>
        <p:grpSpPr>
          <a:xfrm>
            <a:off x="1282211" y="2406667"/>
            <a:ext cx="6840632" cy="684063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5046" r="-25046"/>
              </a:stretch>
            </a:blipFill>
          </p:spPr>
          <p:txBody>
            <a:bodyPr/>
            <a:lstStyle/>
            <a:p>
              <a:endParaRPr lang="en-US"/>
            </a:p>
          </p:txBody>
        </p:sp>
      </p:grpSp>
      <p:sp>
        <p:nvSpPr>
          <p:cNvPr id="10" name="TextBox 10"/>
          <p:cNvSpPr txBox="1"/>
          <p:nvPr/>
        </p:nvSpPr>
        <p:spPr>
          <a:xfrm>
            <a:off x="9697859" y="3343217"/>
            <a:ext cx="7117453" cy="1384582"/>
          </a:xfrm>
          <a:prstGeom prst="rect">
            <a:avLst/>
          </a:prstGeom>
        </p:spPr>
        <p:txBody>
          <a:bodyPr lIns="0" tIns="0" rIns="0" bIns="0" rtlCol="0" anchor="t">
            <a:spAutoFit/>
          </a:bodyPr>
          <a:lstStyle/>
          <a:p>
            <a:pPr marL="0" lvl="0" indent="0" algn="l">
              <a:lnSpc>
                <a:spcPts val="10078"/>
              </a:lnSpc>
              <a:spcBef>
                <a:spcPct val="0"/>
              </a:spcBef>
            </a:pPr>
            <a:r>
              <a:rPr lang="en-US" sz="9079" b="1" spc="-463">
                <a:solidFill>
                  <a:srgbClr val="FFFFFF"/>
                </a:solidFill>
                <a:latin typeface="Poppins Bold"/>
                <a:ea typeface="Poppins Bold"/>
                <a:cs typeface="Poppins Bold"/>
                <a:sym typeface="Poppins Bold"/>
              </a:rPr>
              <a:t>Introduction </a:t>
            </a:r>
          </a:p>
        </p:txBody>
      </p:sp>
      <p:sp>
        <p:nvSpPr>
          <p:cNvPr id="11" name="TextBox 11"/>
          <p:cNvSpPr txBox="1"/>
          <p:nvPr/>
        </p:nvSpPr>
        <p:spPr>
          <a:xfrm>
            <a:off x="9388621" y="5014182"/>
            <a:ext cx="7735928" cy="2651126"/>
          </a:xfrm>
          <a:prstGeom prst="rect">
            <a:avLst/>
          </a:prstGeom>
        </p:spPr>
        <p:txBody>
          <a:bodyPr lIns="0" tIns="0" rIns="0" bIns="0" rtlCol="0" anchor="t">
            <a:spAutoFit/>
          </a:bodyPr>
          <a:lstStyle/>
          <a:p>
            <a:pPr marL="0" lvl="0" indent="0" algn="ctr">
              <a:lnSpc>
                <a:spcPts val="4249"/>
              </a:lnSpc>
              <a:spcBef>
                <a:spcPct val="0"/>
              </a:spcBef>
            </a:pPr>
            <a:r>
              <a:rPr lang="en-US" sz="2499">
                <a:solidFill>
                  <a:srgbClr val="FFFFFF">
                    <a:alpha val="69804"/>
                  </a:srgbClr>
                </a:solidFill>
                <a:latin typeface="Poppins"/>
                <a:ea typeface="Poppins"/>
                <a:cs typeface="Poppins"/>
                <a:sym typeface="Poppins"/>
              </a:rPr>
              <a:t>This project aims to enhance the operational and diagnostic capabilities of Al Haramain Hospital and Salma Medical Center. The purpose of this project is to improve the quality of patient care.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202127">
                <a:alpha val="100000"/>
              </a:srgbClr>
            </a:gs>
            <a:gs pos="100000">
              <a:srgbClr val="17181B">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867154" y="2986685"/>
            <a:ext cx="4875619" cy="4875619"/>
          </a:xfrm>
          <a:custGeom>
            <a:avLst/>
            <a:gdLst/>
            <a:ahLst/>
            <a:cxnLst/>
            <a:rect l="l" t="t" r="r" b="b"/>
            <a:pathLst>
              <a:path w="4875619" h="4875619">
                <a:moveTo>
                  <a:pt x="0" y="0"/>
                </a:moveTo>
                <a:lnTo>
                  <a:pt x="4875619" y="0"/>
                </a:lnTo>
                <a:lnTo>
                  <a:pt x="4875619" y="4875619"/>
                </a:lnTo>
                <a:lnTo>
                  <a:pt x="0" y="487561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9099173" y="2225528"/>
            <a:ext cx="7666792" cy="1524010"/>
          </a:xfrm>
          <a:prstGeom prst="rect">
            <a:avLst/>
          </a:prstGeom>
        </p:spPr>
        <p:txBody>
          <a:bodyPr lIns="0" tIns="0" rIns="0" bIns="0" rtlCol="0" anchor="t">
            <a:spAutoFit/>
          </a:bodyPr>
          <a:lstStyle/>
          <a:p>
            <a:pPr algn="ctr">
              <a:lnSpc>
                <a:spcPts val="12599"/>
              </a:lnSpc>
            </a:pPr>
            <a:r>
              <a:rPr lang="en-US" sz="8999" b="1">
                <a:solidFill>
                  <a:srgbClr val="FFFFFF"/>
                </a:solidFill>
                <a:latin typeface="Canva Sans Bold"/>
                <a:ea typeface="Canva Sans Bold"/>
                <a:cs typeface="Canva Sans Bold"/>
                <a:sym typeface="Canva Sans Bold"/>
              </a:rPr>
              <a:t>CHALLENGES</a:t>
            </a:r>
          </a:p>
        </p:txBody>
      </p:sp>
      <p:sp>
        <p:nvSpPr>
          <p:cNvPr id="4" name="TextBox 4"/>
          <p:cNvSpPr txBox="1"/>
          <p:nvPr/>
        </p:nvSpPr>
        <p:spPr>
          <a:xfrm>
            <a:off x="9849181" y="4607294"/>
            <a:ext cx="7056358" cy="3980181"/>
          </a:xfrm>
          <a:prstGeom prst="rect">
            <a:avLst/>
          </a:prstGeom>
        </p:spPr>
        <p:txBody>
          <a:bodyPr lIns="0" tIns="0" rIns="0" bIns="0" rtlCol="0" anchor="t">
            <a:spAutoFit/>
          </a:bodyPr>
          <a:lstStyle/>
          <a:p>
            <a:pPr algn="ctr">
              <a:lnSpc>
                <a:spcPts val="5319"/>
              </a:lnSpc>
            </a:pPr>
            <a:r>
              <a:rPr lang="en-US" sz="3799">
                <a:solidFill>
                  <a:srgbClr val="FFFFFF"/>
                </a:solidFill>
                <a:latin typeface="IBM Plex Sans"/>
                <a:ea typeface="IBM Plex Sans"/>
                <a:cs typeface="IBM Plex Sans"/>
                <a:sym typeface="IBM Plex Sans"/>
              </a:rPr>
              <a:t>Diagnostic inaccuracies </a:t>
            </a:r>
          </a:p>
          <a:p>
            <a:pPr algn="ctr">
              <a:lnSpc>
                <a:spcPts val="5319"/>
              </a:lnSpc>
            </a:pPr>
            <a:r>
              <a:rPr lang="en-US" sz="3799">
                <a:solidFill>
                  <a:srgbClr val="FFFFFF"/>
                </a:solidFill>
                <a:latin typeface="IBM Plex Sans"/>
                <a:ea typeface="IBM Plex Sans"/>
                <a:cs typeface="IBM Plex Sans"/>
                <a:sym typeface="IBM Plex Sans"/>
              </a:rPr>
              <a:t>Delays in the diagnostic process </a:t>
            </a:r>
          </a:p>
          <a:p>
            <a:pPr algn="ctr">
              <a:lnSpc>
                <a:spcPts val="5319"/>
              </a:lnSpc>
            </a:pPr>
            <a:r>
              <a:rPr lang="en-US" sz="3799">
                <a:solidFill>
                  <a:srgbClr val="FFFFFF"/>
                </a:solidFill>
                <a:latin typeface="IBM Plex Sans"/>
                <a:ea typeface="IBM Plex Sans"/>
                <a:cs typeface="IBM Plex Sans"/>
                <a:sym typeface="IBM Plex Sans"/>
              </a:rPr>
              <a:t>Repetitive manual tasks </a:t>
            </a:r>
          </a:p>
          <a:p>
            <a:pPr algn="ctr">
              <a:lnSpc>
                <a:spcPts val="5319"/>
              </a:lnSpc>
            </a:pPr>
            <a:r>
              <a:rPr lang="en-US" sz="3799">
                <a:solidFill>
                  <a:srgbClr val="FFFFFF"/>
                </a:solidFill>
                <a:latin typeface="IBM Plex Sans"/>
                <a:ea typeface="IBM Plex Sans"/>
                <a:cs typeface="IBM Plex Sans"/>
                <a:sym typeface="IBM Plex Sans"/>
              </a:rPr>
              <a:t>Operational inefficiencies</a:t>
            </a:r>
          </a:p>
          <a:p>
            <a:pPr algn="ctr">
              <a:lnSpc>
                <a:spcPts val="5319"/>
              </a:lnSpc>
            </a:pPr>
            <a:r>
              <a:rPr lang="en-US" sz="3799">
                <a:solidFill>
                  <a:srgbClr val="FFFFFF"/>
                </a:solidFill>
                <a:latin typeface="IBM Plex Sans"/>
                <a:ea typeface="IBM Plex Sans"/>
                <a:cs typeface="IBM Plex Sans"/>
                <a:sym typeface="IBM Plex Sans"/>
              </a:rPr>
              <a:t>Stakeholder Resistance </a:t>
            </a:r>
          </a:p>
          <a:p>
            <a:pPr algn="ctr">
              <a:lnSpc>
                <a:spcPts val="5319"/>
              </a:lnSpc>
            </a:pPr>
            <a:r>
              <a:rPr lang="en-US" sz="3799">
                <a:solidFill>
                  <a:srgbClr val="FFFFFF"/>
                </a:solidFill>
                <a:latin typeface="IBM Plex Sans"/>
                <a:ea typeface="IBM Plex Sans"/>
                <a:cs typeface="IBM Plex Sans"/>
                <a:sym typeface="IBM Plex Sans"/>
              </a:rPr>
              <a:t>Security Concerns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202127">
                <a:alpha val="100000"/>
              </a:srgbClr>
            </a:gs>
            <a:gs pos="100000">
              <a:srgbClr val="17181B">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028700" y="1969248"/>
            <a:ext cx="7011546" cy="70115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5046" r="-25046"/>
              </a:stretch>
            </a:blipFill>
          </p:spPr>
          <p:txBody>
            <a:bodyPr/>
            <a:lstStyle/>
            <a:p>
              <a:endParaRPr lang="en-US"/>
            </a:p>
          </p:txBody>
        </p:sp>
      </p:grpSp>
      <p:sp>
        <p:nvSpPr>
          <p:cNvPr id="4" name="TextBox 4"/>
          <p:cNvSpPr txBox="1"/>
          <p:nvPr/>
        </p:nvSpPr>
        <p:spPr>
          <a:xfrm>
            <a:off x="5768584" y="818518"/>
            <a:ext cx="7229763" cy="1509837"/>
          </a:xfrm>
          <a:prstGeom prst="rect">
            <a:avLst/>
          </a:prstGeom>
        </p:spPr>
        <p:txBody>
          <a:bodyPr wrap="square" lIns="0" tIns="0" rIns="0" bIns="0" rtlCol="0" anchor="t">
            <a:spAutoFit/>
          </a:bodyPr>
          <a:lstStyle/>
          <a:p>
            <a:pPr algn="ctr">
              <a:lnSpc>
                <a:spcPts val="12599"/>
              </a:lnSpc>
            </a:pPr>
            <a:r>
              <a:rPr lang="en-US" sz="8999" b="1" dirty="0">
                <a:solidFill>
                  <a:srgbClr val="FFFFFF"/>
                </a:solidFill>
                <a:latin typeface="Canva Sans Bold"/>
                <a:ea typeface="Canva Sans Bold"/>
                <a:cs typeface="Canva Sans Bold"/>
                <a:sym typeface="Canva Sans Bold"/>
              </a:rPr>
              <a:t>FINDINGS</a:t>
            </a:r>
          </a:p>
        </p:txBody>
      </p:sp>
      <p:sp>
        <p:nvSpPr>
          <p:cNvPr id="5" name="TextBox 5"/>
          <p:cNvSpPr txBox="1"/>
          <p:nvPr/>
        </p:nvSpPr>
        <p:spPr>
          <a:xfrm>
            <a:off x="9144000" y="5076825"/>
            <a:ext cx="5964793" cy="1287146"/>
          </a:xfrm>
          <a:prstGeom prst="rect">
            <a:avLst/>
          </a:prstGeom>
        </p:spPr>
        <p:txBody>
          <a:bodyPr lIns="0" tIns="0" rIns="0" bIns="0" rtlCol="0" anchor="t">
            <a:spAutoFit/>
          </a:bodyPr>
          <a:lstStyle/>
          <a:p>
            <a:pPr algn="ctr">
              <a:lnSpc>
                <a:spcPts val="5179"/>
              </a:lnSpc>
            </a:pPr>
            <a:r>
              <a:rPr lang="en-US" sz="3699">
                <a:solidFill>
                  <a:srgbClr val="FFFFFF"/>
                </a:solidFill>
                <a:latin typeface="IBM Plex Sans"/>
                <a:ea typeface="IBM Plex Sans"/>
                <a:cs typeface="IBM Plex Sans"/>
                <a:sym typeface="IBM Plex Sans"/>
              </a:rPr>
              <a:t>Highlighted diagnosis issues</a:t>
            </a:r>
          </a:p>
          <a:p>
            <a:pPr algn="ctr">
              <a:lnSpc>
                <a:spcPts val="5179"/>
              </a:lnSpc>
              <a:spcBef>
                <a:spcPct val="0"/>
              </a:spcBef>
            </a:pPr>
            <a:r>
              <a:rPr lang="en-US" sz="3699">
                <a:solidFill>
                  <a:srgbClr val="FFFFFF"/>
                </a:solidFill>
                <a:latin typeface="IBM Plex Sans"/>
                <a:ea typeface="IBM Plex Sans"/>
                <a:cs typeface="IBM Plex Sans"/>
                <a:sym typeface="IBM Plex Sans"/>
              </a:rPr>
              <a:t>80% </a:t>
            </a:r>
          </a:p>
        </p:txBody>
      </p:sp>
      <p:sp>
        <p:nvSpPr>
          <p:cNvPr id="6" name="TextBox 6"/>
          <p:cNvSpPr txBox="1"/>
          <p:nvPr/>
        </p:nvSpPr>
        <p:spPr>
          <a:xfrm>
            <a:off x="10690398" y="7036424"/>
            <a:ext cx="6568902" cy="1944371"/>
          </a:xfrm>
          <a:prstGeom prst="rect">
            <a:avLst/>
          </a:prstGeom>
        </p:spPr>
        <p:txBody>
          <a:bodyPr lIns="0" tIns="0" rIns="0" bIns="0" rtlCol="0" anchor="t">
            <a:spAutoFit/>
          </a:bodyPr>
          <a:lstStyle/>
          <a:p>
            <a:pPr algn="ctr">
              <a:lnSpc>
                <a:spcPts val="5179"/>
              </a:lnSpc>
            </a:pPr>
            <a:r>
              <a:rPr lang="en-US" sz="3699">
                <a:solidFill>
                  <a:srgbClr val="FFFFFF"/>
                </a:solidFill>
                <a:latin typeface="IBM Plex Sans"/>
                <a:ea typeface="IBM Plex Sans"/>
                <a:cs typeface="IBM Plex Sans"/>
                <a:sym typeface="IBM Plex Sans"/>
              </a:rPr>
              <a:t>Showed that repetitive manual tasks are a source of burnout</a:t>
            </a:r>
          </a:p>
          <a:p>
            <a:pPr algn="ctr">
              <a:lnSpc>
                <a:spcPts val="5179"/>
              </a:lnSpc>
              <a:spcBef>
                <a:spcPct val="0"/>
              </a:spcBef>
            </a:pPr>
            <a:r>
              <a:rPr lang="en-US" sz="3699">
                <a:solidFill>
                  <a:srgbClr val="FFFFFF"/>
                </a:solidFill>
                <a:latin typeface="IBM Plex Sans"/>
                <a:ea typeface="IBM Plex Sans"/>
                <a:cs typeface="IBM Plex Sans"/>
                <a:sym typeface="IBM Plex Sans"/>
              </a:rPr>
              <a:t>66.7% </a:t>
            </a:r>
          </a:p>
        </p:txBody>
      </p:sp>
      <p:sp>
        <p:nvSpPr>
          <p:cNvPr id="7" name="TextBox 7"/>
          <p:cNvSpPr txBox="1"/>
          <p:nvPr/>
        </p:nvSpPr>
        <p:spPr>
          <a:xfrm>
            <a:off x="11420706" y="3131183"/>
            <a:ext cx="6399054" cy="1944371"/>
          </a:xfrm>
          <a:prstGeom prst="rect">
            <a:avLst/>
          </a:prstGeom>
        </p:spPr>
        <p:txBody>
          <a:bodyPr lIns="0" tIns="0" rIns="0" bIns="0" rtlCol="0" anchor="t">
            <a:spAutoFit/>
          </a:bodyPr>
          <a:lstStyle/>
          <a:p>
            <a:pPr algn="ctr">
              <a:lnSpc>
                <a:spcPts val="5179"/>
              </a:lnSpc>
            </a:pPr>
            <a:r>
              <a:rPr lang="en-US" sz="3699">
                <a:solidFill>
                  <a:srgbClr val="FFFFFF"/>
                </a:solidFill>
                <a:latin typeface="IBM Plex Sans"/>
                <a:ea typeface="IBM Plex Sans"/>
                <a:cs typeface="IBM Plex Sans"/>
                <a:sym typeface="IBM Plex Sans"/>
              </a:rPr>
              <a:t>Expressed how AI could reduce human errors</a:t>
            </a:r>
          </a:p>
          <a:p>
            <a:pPr algn="ctr">
              <a:lnSpc>
                <a:spcPts val="5179"/>
              </a:lnSpc>
              <a:spcBef>
                <a:spcPct val="0"/>
              </a:spcBef>
            </a:pPr>
            <a:r>
              <a:rPr lang="en-US" sz="3699">
                <a:solidFill>
                  <a:srgbClr val="FFFFFF"/>
                </a:solidFill>
                <a:latin typeface="IBM Plex Sans"/>
                <a:ea typeface="IBM Plex Sans"/>
                <a:cs typeface="IBM Plex Sans"/>
                <a:sym typeface="IBM Plex Sans"/>
              </a:rPr>
              <a:t>67%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202127">
                <a:alpha val="100000"/>
              </a:srgbClr>
            </a:gs>
            <a:gs pos="100000">
              <a:srgbClr val="17181B">
                <a:alpha val="100000"/>
              </a:srgbClr>
            </a:gs>
          </a:gsLst>
          <a:lin ang="0"/>
        </a:gradFill>
        <a:effectLst/>
      </p:bgPr>
    </p:bg>
    <p:spTree>
      <p:nvGrpSpPr>
        <p:cNvPr id="1" name=""/>
        <p:cNvGrpSpPr/>
        <p:nvPr/>
      </p:nvGrpSpPr>
      <p:grpSpPr>
        <a:xfrm>
          <a:off x="0" y="0"/>
          <a:ext cx="0" cy="0"/>
          <a:chOff x="0" y="0"/>
          <a:chExt cx="0" cy="0"/>
        </a:xfrm>
      </p:grpSpPr>
      <p:grpSp>
        <p:nvGrpSpPr>
          <p:cNvPr id="5" name="Group 5"/>
          <p:cNvGrpSpPr/>
          <p:nvPr/>
        </p:nvGrpSpPr>
        <p:grpSpPr>
          <a:xfrm>
            <a:off x="1028700" y="2153156"/>
            <a:ext cx="7347653" cy="734765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58CE"/>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grpSp>
        <p:nvGrpSpPr>
          <p:cNvPr id="8" name="Group 8"/>
          <p:cNvGrpSpPr/>
          <p:nvPr/>
        </p:nvGrpSpPr>
        <p:grpSpPr>
          <a:xfrm>
            <a:off x="1282211" y="2406667"/>
            <a:ext cx="6840632" cy="684063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t="-1431" b="-1431"/>
              </a:stretch>
            </a:blipFill>
          </p:spPr>
          <p:txBody>
            <a:bodyPr/>
            <a:lstStyle/>
            <a:p>
              <a:endParaRPr lang="en-US"/>
            </a:p>
          </p:txBody>
        </p:sp>
      </p:grpSp>
      <p:sp>
        <p:nvSpPr>
          <p:cNvPr id="10" name="TextBox 10"/>
          <p:cNvSpPr txBox="1"/>
          <p:nvPr/>
        </p:nvSpPr>
        <p:spPr>
          <a:xfrm>
            <a:off x="8957989" y="1229272"/>
            <a:ext cx="7963019" cy="2666006"/>
          </a:xfrm>
          <a:prstGeom prst="rect">
            <a:avLst/>
          </a:prstGeom>
        </p:spPr>
        <p:txBody>
          <a:bodyPr lIns="0" tIns="0" rIns="0" bIns="0" rtlCol="0" anchor="t">
            <a:spAutoFit/>
          </a:bodyPr>
          <a:lstStyle/>
          <a:p>
            <a:pPr marL="0" lvl="0" indent="0" algn="ctr">
              <a:lnSpc>
                <a:spcPts val="10078"/>
              </a:lnSpc>
              <a:spcBef>
                <a:spcPct val="0"/>
              </a:spcBef>
            </a:pPr>
            <a:r>
              <a:rPr lang="en-US" sz="9079" b="1" spc="-463">
                <a:solidFill>
                  <a:srgbClr val="FFFFFF"/>
                </a:solidFill>
                <a:latin typeface="Poppins Bold"/>
                <a:ea typeface="Poppins Bold"/>
                <a:cs typeface="Poppins Bold"/>
                <a:sym typeface="Poppins Bold"/>
              </a:rPr>
              <a:t>Proposed Solution</a:t>
            </a:r>
          </a:p>
        </p:txBody>
      </p:sp>
      <p:sp>
        <p:nvSpPr>
          <p:cNvPr id="11" name="TextBox 11"/>
          <p:cNvSpPr txBox="1"/>
          <p:nvPr/>
        </p:nvSpPr>
        <p:spPr>
          <a:xfrm>
            <a:off x="9100589" y="4028962"/>
            <a:ext cx="8158711" cy="5921375"/>
          </a:xfrm>
          <a:prstGeom prst="rect">
            <a:avLst/>
          </a:prstGeom>
        </p:spPr>
        <p:txBody>
          <a:bodyPr lIns="0" tIns="0" rIns="0" bIns="0" rtlCol="0" anchor="t">
            <a:spAutoFit/>
          </a:bodyPr>
          <a:lstStyle/>
          <a:p>
            <a:pPr marL="0" lvl="0" indent="0" algn="ctr">
              <a:lnSpc>
                <a:spcPts val="3909"/>
              </a:lnSpc>
              <a:spcBef>
                <a:spcPct val="0"/>
              </a:spcBef>
            </a:pPr>
            <a:r>
              <a:rPr lang="en-US" sz="2299">
                <a:solidFill>
                  <a:srgbClr val="FFFFFF">
                    <a:alpha val="69804"/>
                  </a:srgbClr>
                </a:solidFill>
                <a:latin typeface="Poppins"/>
                <a:ea typeface="Poppins"/>
                <a:cs typeface="Poppins"/>
                <a:sym typeface="Poppins"/>
              </a:rPr>
              <a:t>An AI diagnostic system that aims to improve patient outcomes by providing accurate diagnosis, and evidence-based recommendations, and reducing human errors and delays. Automating routine tasks will allow medical professionals to focus on patient care and outcomes. The hospital would benefit as its reputation will effectively increase as optimized outcomes and operational efficiency will help build trust with different patients and stakeholders. These impacts align with the organization’s objectives and goals to provide high-quality healthcare and ensure better patient outcomes.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202127">
                <a:alpha val="100000"/>
              </a:srgbClr>
            </a:gs>
            <a:gs pos="100000">
              <a:srgbClr val="17181B">
                <a:alpha val="100000"/>
              </a:srgbClr>
            </a:gs>
          </a:gsLst>
          <a:lin ang="0"/>
        </a:gra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673001" y="4457189"/>
          <a:ext cx="6819274" cy="5286372"/>
        </p:xfrm>
        <a:graphic>
          <a:graphicData uri="http://schemas.openxmlformats.org/drawingml/2006/table">
            <a:tbl>
              <a:tblPr/>
              <a:tblGrid>
                <a:gridCol w="4244541">
                  <a:extLst>
                    <a:ext uri="{9D8B030D-6E8A-4147-A177-3AD203B41FA5}">
                      <a16:colId xmlns:a16="http://schemas.microsoft.com/office/drawing/2014/main" val="20000"/>
                    </a:ext>
                  </a:extLst>
                </a:gridCol>
                <a:gridCol w="2574733">
                  <a:extLst>
                    <a:ext uri="{9D8B030D-6E8A-4147-A177-3AD203B41FA5}">
                      <a16:colId xmlns:a16="http://schemas.microsoft.com/office/drawing/2014/main" val="20001"/>
                    </a:ext>
                  </a:extLst>
                </a:gridCol>
              </a:tblGrid>
              <a:tr h="881062">
                <a:tc>
                  <a:txBody>
                    <a:bodyPr/>
                    <a:lstStyle/>
                    <a:p>
                      <a:pPr algn="l">
                        <a:lnSpc>
                          <a:spcPts val="3219"/>
                        </a:lnSpc>
                        <a:defRPr/>
                      </a:pPr>
                      <a:r>
                        <a:rPr lang="en-US" sz="2299">
                          <a:solidFill>
                            <a:srgbClr val="FFFFFF"/>
                          </a:solidFill>
                          <a:latin typeface="IBM Plex Sans"/>
                          <a:ea typeface="IBM Plex Sans"/>
                          <a:cs typeface="IBM Plex Sans"/>
                          <a:sym typeface="IBM Plex Sans"/>
                        </a:rPr>
                        <a:t>Team </a:t>
                      </a:r>
                      <a:endParaRPr lang="en-US" sz="1100"/>
                    </a:p>
                  </a:txBody>
                  <a:tcPr marL="190500" marR="190500" marT="190500" marB="1905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l">
                        <a:lnSpc>
                          <a:spcPts val="3219"/>
                        </a:lnSpc>
                        <a:defRPr/>
                      </a:pPr>
                      <a:r>
                        <a:rPr lang="en-US" sz="2299">
                          <a:solidFill>
                            <a:srgbClr val="FFFFFF"/>
                          </a:solidFill>
                          <a:latin typeface="IBM Plex Sans"/>
                          <a:ea typeface="IBM Plex Sans"/>
                          <a:cs typeface="IBM Plex Sans"/>
                          <a:sym typeface="IBM Plex Sans"/>
                        </a:rPr>
                        <a:t>$127,248 </a:t>
                      </a:r>
                      <a:endParaRPr lang="en-US" sz="1100"/>
                    </a:p>
                  </a:txBody>
                  <a:tcPr marL="190500" marR="190500" marT="190500" marB="1905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881062">
                <a:tc>
                  <a:txBody>
                    <a:bodyPr/>
                    <a:lstStyle/>
                    <a:p>
                      <a:pPr algn="l">
                        <a:lnSpc>
                          <a:spcPts val="3219"/>
                        </a:lnSpc>
                        <a:defRPr/>
                      </a:pPr>
                      <a:r>
                        <a:rPr lang="en-US" sz="2299">
                          <a:solidFill>
                            <a:srgbClr val="FFFFFF"/>
                          </a:solidFill>
                          <a:latin typeface="IBM Plex Sans"/>
                          <a:ea typeface="IBM Plex Sans"/>
                          <a:cs typeface="IBM Plex Sans"/>
                          <a:sym typeface="IBM Plex Sans"/>
                        </a:rPr>
                        <a:t>Hardware </a:t>
                      </a:r>
                      <a:endParaRPr lang="en-US" sz="1100"/>
                    </a:p>
                  </a:txBody>
                  <a:tcPr marL="190500" marR="190500" marT="190500" marB="1905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l">
                        <a:lnSpc>
                          <a:spcPts val="3219"/>
                        </a:lnSpc>
                        <a:defRPr/>
                      </a:pPr>
                      <a:r>
                        <a:rPr lang="en-US" sz="2299">
                          <a:solidFill>
                            <a:srgbClr val="FFFFFF"/>
                          </a:solidFill>
                          <a:latin typeface="IBM Plex Sans"/>
                          <a:ea typeface="IBM Plex Sans"/>
                          <a:cs typeface="IBM Plex Sans"/>
                          <a:sym typeface="IBM Plex Sans"/>
                        </a:rPr>
                        <a:t>$106,020 </a:t>
                      </a:r>
                      <a:endParaRPr lang="en-US" sz="1100"/>
                    </a:p>
                  </a:txBody>
                  <a:tcPr marL="190500" marR="190500" marT="190500" marB="1905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881062">
                <a:tc>
                  <a:txBody>
                    <a:bodyPr/>
                    <a:lstStyle/>
                    <a:p>
                      <a:pPr algn="l">
                        <a:lnSpc>
                          <a:spcPts val="3219"/>
                        </a:lnSpc>
                        <a:defRPr/>
                      </a:pPr>
                      <a:r>
                        <a:rPr lang="en-US" sz="2299">
                          <a:solidFill>
                            <a:srgbClr val="FFFFFF"/>
                          </a:solidFill>
                          <a:latin typeface="IBM Plex Sans"/>
                          <a:ea typeface="IBM Plex Sans"/>
                          <a:cs typeface="IBM Plex Sans"/>
                          <a:sym typeface="IBM Plex Sans"/>
                        </a:rPr>
                        <a:t>Software </a:t>
                      </a:r>
                      <a:endParaRPr lang="en-US" sz="1100"/>
                    </a:p>
                  </a:txBody>
                  <a:tcPr marL="190500" marR="190500" marT="190500" marB="1905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l">
                        <a:lnSpc>
                          <a:spcPts val="3219"/>
                        </a:lnSpc>
                        <a:defRPr/>
                      </a:pPr>
                      <a:r>
                        <a:rPr lang="en-US" sz="2299">
                          <a:solidFill>
                            <a:srgbClr val="FFFFFF"/>
                          </a:solidFill>
                          <a:latin typeface="IBM Plex Sans"/>
                          <a:ea typeface="IBM Plex Sans"/>
                          <a:cs typeface="IBM Plex Sans"/>
                          <a:sym typeface="IBM Plex Sans"/>
                        </a:rPr>
                        <a:t>$74,000 </a:t>
                      </a:r>
                      <a:endParaRPr lang="en-US" sz="1100"/>
                    </a:p>
                  </a:txBody>
                  <a:tcPr marL="190500" marR="190500" marT="190500" marB="1905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881062">
                <a:tc>
                  <a:txBody>
                    <a:bodyPr/>
                    <a:lstStyle/>
                    <a:p>
                      <a:pPr algn="l">
                        <a:lnSpc>
                          <a:spcPts val="3219"/>
                        </a:lnSpc>
                        <a:defRPr/>
                      </a:pPr>
                      <a:r>
                        <a:rPr lang="en-US" sz="2299">
                          <a:solidFill>
                            <a:srgbClr val="FFFFFF"/>
                          </a:solidFill>
                          <a:latin typeface="IBM Plex Sans"/>
                          <a:ea typeface="IBM Plex Sans"/>
                          <a:cs typeface="IBM Plex Sans"/>
                          <a:sym typeface="IBM Plex Sans"/>
                        </a:rPr>
                        <a:t>AI deployment</a:t>
                      </a:r>
                      <a:endParaRPr lang="en-US" sz="1100"/>
                    </a:p>
                  </a:txBody>
                  <a:tcPr marL="190500" marR="190500" marT="190500" marB="1905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l">
                        <a:lnSpc>
                          <a:spcPts val="3219"/>
                        </a:lnSpc>
                        <a:defRPr/>
                      </a:pPr>
                      <a:r>
                        <a:rPr lang="en-US" sz="2299">
                          <a:solidFill>
                            <a:srgbClr val="FFFFFF"/>
                          </a:solidFill>
                          <a:latin typeface="IBM Plex Sans"/>
                          <a:ea typeface="IBM Plex Sans"/>
                          <a:cs typeface="IBM Plex Sans"/>
                          <a:sym typeface="IBM Plex Sans"/>
                        </a:rPr>
                        <a:t>$7,425,000 </a:t>
                      </a:r>
                      <a:endParaRPr lang="en-US" sz="1100"/>
                    </a:p>
                  </a:txBody>
                  <a:tcPr marL="190500" marR="190500" marT="190500" marB="1905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881062">
                <a:tc>
                  <a:txBody>
                    <a:bodyPr/>
                    <a:lstStyle/>
                    <a:p>
                      <a:pPr algn="l">
                        <a:lnSpc>
                          <a:spcPts val="3219"/>
                        </a:lnSpc>
                        <a:defRPr/>
                      </a:pPr>
                      <a:r>
                        <a:rPr lang="en-US" sz="2299">
                          <a:solidFill>
                            <a:srgbClr val="FFFFFF"/>
                          </a:solidFill>
                          <a:latin typeface="IBM Plex Sans"/>
                          <a:ea typeface="IBM Plex Sans"/>
                          <a:cs typeface="IBM Plex Sans"/>
                          <a:sym typeface="IBM Plex Sans"/>
                        </a:rPr>
                        <a:t>Training </a:t>
                      </a:r>
                      <a:endParaRPr lang="en-US" sz="1100"/>
                    </a:p>
                  </a:txBody>
                  <a:tcPr marL="190500" marR="190500" marT="190500" marB="1905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l">
                        <a:lnSpc>
                          <a:spcPts val="3219"/>
                        </a:lnSpc>
                        <a:defRPr/>
                      </a:pPr>
                      <a:r>
                        <a:rPr lang="en-US" sz="2299">
                          <a:solidFill>
                            <a:srgbClr val="FFFFFF"/>
                          </a:solidFill>
                          <a:latin typeface="IBM Plex Sans"/>
                          <a:ea typeface="IBM Plex Sans"/>
                          <a:cs typeface="IBM Plex Sans"/>
                          <a:sym typeface="IBM Plex Sans"/>
                        </a:rPr>
                        <a:t>$53,800 </a:t>
                      </a:r>
                      <a:endParaRPr lang="en-US" sz="1100"/>
                    </a:p>
                  </a:txBody>
                  <a:tcPr marL="190500" marR="190500" marT="190500" marB="1905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r h="881062">
                <a:tc>
                  <a:txBody>
                    <a:bodyPr/>
                    <a:lstStyle/>
                    <a:p>
                      <a:pPr algn="l">
                        <a:lnSpc>
                          <a:spcPts val="3219"/>
                        </a:lnSpc>
                        <a:defRPr/>
                      </a:pPr>
                      <a:r>
                        <a:rPr lang="en-US" sz="2299">
                          <a:solidFill>
                            <a:srgbClr val="FFFFFF"/>
                          </a:solidFill>
                          <a:latin typeface="IBM Plex Sans"/>
                          <a:ea typeface="IBM Plex Sans"/>
                          <a:cs typeface="IBM Plex Sans"/>
                          <a:sym typeface="IBM Plex Sans"/>
                        </a:rPr>
                        <a:t>Support </a:t>
                      </a:r>
                      <a:endParaRPr lang="en-US" sz="1100"/>
                    </a:p>
                  </a:txBody>
                  <a:tcPr marL="190500" marR="190500" marT="190500" marB="1905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l">
                        <a:lnSpc>
                          <a:spcPts val="3219"/>
                        </a:lnSpc>
                        <a:defRPr/>
                      </a:pPr>
                      <a:r>
                        <a:rPr lang="en-US" sz="2299">
                          <a:solidFill>
                            <a:srgbClr val="FFFFFF"/>
                          </a:solidFill>
                          <a:latin typeface="IBM Plex Sans"/>
                          <a:ea typeface="IBM Plex Sans"/>
                          <a:cs typeface="IBM Plex Sans"/>
                          <a:sym typeface="IBM Plex Sans"/>
                        </a:rPr>
                        <a:t>$105,100 </a:t>
                      </a:r>
                      <a:endParaRPr lang="en-US" sz="1100"/>
                    </a:p>
                  </a:txBody>
                  <a:tcPr marL="190500" marR="190500" marT="190500" marB="1905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Freeform 3"/>
          <p:cNvSpPr/>
          <p:nvPr/>
        </p:nvSpPr>
        <p:spPr>
          <a:xfrm>
            <a:off x="8663041" y="4457189"/>
            <a:ext cx="8834120" cy="5286375"/>
          </a:xfrm>
          <a:custGeom>
            <a:avLst/>
            <a:gdLst/>
            <a:ahLst/>
            <a:cxnLst/>
            <a:rect l="l" t="t" r="r" b="b"/>
            <a:pathLst>
              <a:path w="8834120" h="5286375">
                <a:moveTo>
                  <a:pt x="0" y="0"/>
                </a:moveTo>
                <a:lnTo>
                  <a:pt x="8834120" y="0"/>
                </a:lnTo>
                <a:lnTo>
                  <a:pt x="8834120" y="5286375"/>
                </a:lnTo>
                <a:lnTo>
                  <a:pt x="0" y="5286375"/>
                </a:lnTo>
                <a:lnTo>
                  <a:pt x="0" y="0"/>
                </a:lnTo>
                <a:close/>
              </a:path>
            </a:pathLst>
          </a:custGeom>
          <a:blipFill>
            <a:blip r:embed="rId2"/>
            <a:stretch>
              <a:fillRect/>
            </a:stretch>
          </a:blipFill>
        </p:spPr>
        <p:txBody>
          <a:bodyPr/>
          <a:lstStyle/>
          <a:p>
            <a:endParaRPr lang="en-US"/>
          </a:p>
        </p:txBody>
      </p:sp>
      <p:sp>
        <p:nvSpPr>
          <p:cNvPr id="4" name="TextBox 4"/>
          <p:cNvSpPr txBox="1"/>
          <p:nvPr/>
        </p:nvSpPr>
        <p:spPr>
          <a:xfrm>
            <a:off x="673001" y="1019175"/>
            <a:ext cx="8715811" cy="2666006"/>
          </a:xfrm>
          <a:prstGeom prst="rect">
            <a:avLst/>
          </a:prstGeom>
        </p:spPr>
        <p:txBody>
          <a:bodyPr lIns="0" tIns="0" rIns="0" bIns="0" rtlCol="0" anchor="t">
            <a:spAutoFit/>
          </a:bodyPr>
          <a:lstStyle/>
          <a:p>
            <a:pPr marL="0" lvl="0" indent="0" algn="just">
              <a:lnSpc>
                <a:spcPts val="10078"/>
              </a:lnSpc>
              <a:spcBef>
                <a:spcPct val="0"/>
              </a:spcBef>
            </a:pPr>
            <a:r>
              <a:rPr lang="en-US" sz="9079" b="1" u="none" strike="noStrike" spc="-463">
                <a:solidFill>
                  <a:srgbClr val="F8F8F8"/>
                </a:solidFill>
                <a:latin typeface="Poppins Semi-Bold"/>
                <a:ea typeface="Poppins Semi-Bold"/>
                <a:cs typeface="Poppins Semi-Bold"/>
                <a:sym typeface="Poppins Semi-Bold"/>
              </a:rPr>
              <a:t>Financial 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202127">
                <a:alpha val="100000"/>
              </a:srgbClr>
            </a:gs>
            <a:gs pos="100000">
              <a:srgbClr val="17181B">
                <a:alpha val="100000"/>
              </a:srgbClr>
            </a:gs>
          </a:gsLst>
          <a:lin ang="0"/>
        </a:gradFill>
        <a:effectLst/>
      </p:bgPr>
    </p:bg>
    <p:spTree>
      <p:nvGrpSpPr>
        <p:cNvPr id="1" name=""/>
        <p:cNvGrpSpPr/>
        <p:nvPr/>
      </p:nvGrpSpPr>
      <p:grpSpPr>
        <a:xfrm>
          <a:off x="0" y="0"/>
          <a:ext cx="0" cy="0"/>
          <a:chOff x="0" y="0"/>
          <a:chExt cx="0" cy="0"/>
        </a:xfrm>
      </p:grpSpPr>
      <p:sp>
        <p:nvSpPr>
          <p:cNvPr id="5" name="TextBox 5"/>
          <p:cNvSpPr txBox="1"/>
          <p:nvPr/>
        </p:nvSpPr>
        <p:spPr>
          <a:xfrm>
            <a:off x="4500037" y="1019175"/>
            <a:ext cx="9287926" cy="1389656"/>
          </a:xfrm>
          <a:prstGeom prst="rect">
            <a:avLst/>
          </a:prstGeom>
        </p:spPr>
        <p:txBody>
          <a:bodyPr lIns="0" tIns="0" rIns="0" bIns="0" rtlCol="0" anchor="t">
            <a:spAutoFit/>
          </a:bodyPr>
          <a:lstStyle/>
          <a:p>
            <a:pPr marL="0" lvl="0" indent="0" algn="ctr">
              <a:lnSpc>
                <a:spcPts val="10078"/>
              </a:lnSpc>
              <a:spcBef>
                <a:spcPct val="0"/>
              </a:spcBef>
            </a:pPr>
            <a:r>
              <a:rPr lang="en-US" sz="9079" b="1" spc="-463">
                <a:solidFill>
                  <a:srgbClr val="FFFFFF"/>
                </a:solidFill>
                <a:latin typeface="Poppins Bold"/>
                <a:ea typeface="Poppins Bold"/>
                <a:cs typeface="Poppins Bold"/>
                <a:sym typeface="Poppins Bold"/>
              </a:rPr>
              <a:t>Project Timeline </a:t>
            </a:r>
          </a:p>
        </p:txBody>
      </p:sp>
      <p:grpSp>
        <p:nvGrpSpPr>
          <p:cNvPr id="6" name="Group 6"/>
          <p:cNvGrpSpPr/>
          <p:nvPr/>
        </p:nvGrpSpPr>
        <p:grpSpPr>
          <a:xfrm>
            <a:off x="2839237" y="3743559"/>
            <a:ext cx="2464054" cy="1002783"/>
            <a:chOff x="0" y="0"/>
            <a:chExt cx="989506" cy="402694"/>
          </a:xfrm>
        </p:grpSpPr>
        <p:sp>
          <p:nvSpPr>
            <p:cNvPr id="7" name="Freeform 7"/>
            <p:cNvSpPr/>
            <p:nvPr/>
          </p:nvSpPr>
          <p:spPr>
            <a:xfrm>
              <a:off x="0" y="0"/>
              <a:ext cx="989506" cy="402694"/>
            </a:xfrm>
            <a:custGeom>
              <a:avLst/>
              <a:gdLst/>
              <a:ahLst/>
              <a:cxnLst/>
              <a:rect l="l" t="t" r="r" b="b"/>
              <a:pathLst>
                <a:path w="989506" h="402694">
                  <a:moveTo>
                    <a:pt x="125678" y="0"/>
                  </a:moveTo>
                  <a:lnTo>
                    <a:pt x="863828" y="0"/>
                  </a:lnTo>
                  <a:cubicBezTo>
                    <a:pt x="933238" y="0"/>
                    <a:pt x="989506" y="56268"/>
                    <a:pt x="989506" y="125678"/>
                  </a:cubicBezTo>
                  <a:lnTo>
                    <a:pt x="989506" y="277016"/>
                  </a:lnTo>
                  <a:cubicBezTo>
                    <a:pt x="989506" y="346426"/>
                    <a:pt x="933238" y="402694"/>
                    <a:pt x="863828" y="402694"/>
                  </a:cubicBezTo>
                  <a:lnTo>
                    <a:pt x="125678" y="402694"/>
                  </a:lnTo>
                  <a:cubicBezTo>
                    <a:pt x="56268" y="402694"/>
                    <a:pt x="0" y="346426"/>
                    <a:pt x="0" y="277016"/>
                  </a:cubicBezTo>
                  <a:lnTo>
                    <a:pt x="0" y="125678"/>
                  </a:lnTo>
                  <a:cubicBezTo>
                    <a:pt x="0" y="56268"/>
                    <a:pt x="56268" y="0"/>
                    <a:pt x="125678" y="0"/>
                  </a:cubicBezTo>
                  <a:close/>
                </a:path>
              </a:pathLst>
            </a:custGeom>
            <a:solidFill>
              <a:srgbClr val="A685E2"/>
            </a:solidFill>
          </p:spPr>
          <p:txBody>
            <a:bodyPr/>
            <a:lstStyle/>
            <a:p>
              <a:endParaRPr lang="en-US"/>
            </a:p>
          </p:txBody>
        </p:sp>
        <p:sp>
          <p:nvSpPr>
            <p:cNvPr id="8" name="TextBox 8"/>
            <p:cNvSpPr txBox="1"/>
            <p:nvPr/>
          </p:nvSpPr>
          <p:spPr>
            <a:xfrm>
              <a:off x="0" y="-57150"/>
              <a:ext cx="989506" cy="459844"/>
            </a:xfrm>
            <a:prstGeom prst="rect">
              <a:avLst/>
            </a:prstGeom>
          </p:spPr>
          <p:txBody>
            <a:bodyPr lIns="50800" tIns="50800" rIns="50800" bIns="50800" rtlCol="0" anchor="ctr"/>
            <a:lstStyle/>
            <a:p>
              <a:pPr algn="ctr">
                <a:lnSpc>
                  <a:spcPts val="4200"/>
                </a:lnSpc>
              </a:pPr>
              <a:r>
                <a:rPr lang="en-US" sz="3000" b="1">
                  <a:solidFill>
                    <a:srgbClr val="F8F8F8"/>
                  </a:solidFill>
                  <a:latin typeface="IBM Plex Sans Bold"/>
                  <a:ea typeface="IBM Plex Sans Bold"/>
                  <a:cs typeface="IBM Plex Sans Bold"/>
                  <a:sym typeface="IBM Plex Sans Bold"/>
                </a:rPr>
                <a:t>4/1</a:t>
              </a:r>
            </a:p>
          </p:txBody>
        </p:sp>
      </p:grpSp>
      <p:grpSp>
        <p:nvGrpSpPr>
          <p:cNvPr id="9" name="Group 9"/>
          <p:cNvGrpSpPr/>
          <p:nvPr/>
        </p:nvGrpSpPr>
        <p:grpSpPr>
          <a:xfrm>
            <a:off x="5559955" y="3738860"/>
            <a:ext cx="2451560" cy="1002783"/>
            <a:chOff x="0" y="0"/>
            <a:chExt cx="984489" cy="402694"/>
          </a:xfrm>
        </p:grpSpPr>
        <p:sp>
          <p:nvSpPr>
            <p:cNvPr id="10" name="Freeform 10"/>
            <p:cNvSpPr/>
            <p:nvPr/>
          </p:nvSpPr>
          <p:spPr>
            <a:xfrm>
              <a:off x="0" y="0"/>
              <a:ext cx="984489" cy="402694"/>
            </a:xfrm>
            <a:custGeom>
              <a:avLst/>
              <a:gdLst/>
              <a:ahLst/>
              <a:cxnLst/>
              <a:rect l="l" t="t" r="r" b="b"/>
              <a:pathLst>
                <a:path w="984489" h="402694">
                  <a:moveTo>
                    <a:pt x="126318" y="0"/>
                  </a:moveTo>
                  <a:lnTo>
                    <a:pt x="858170" y="0"/>
                  </a:lnTo>
                  <a:cubicBezTo>
                    <a:pt x="891672" y="0"/>
                    <a:pt x="923802" y="13308"/>
                    <a:pt x="947491" y="36998"/>
                  </a:cubicBezTo>
                  <a:cubicBezTo>
                    <a:pt x="971180" y="60687"/>
                    <a:pt x="984489" y="92817"/>
                    <a:pt x="984489" y="126318"/>
                  </a:cubicBezTo>
                  <a:lnTo>
                    <a:pt x="984489" y="276376"/>
                  </a:lnTo>
                  <a:cubicBezTo>
                    <a:pt x="984489" y="309877"/>
                    <a:pt x="971180" y="342007"/>
                    <a:pt x="947491" y="365696"/>
                  </a:cubicBezTo>
                  <a:cubicBezTo>
                    <a:pt x="923802" y="389386"/>
                    <a:pt x="891672" y="402694"/>
                    <a:pt x="858170" y="402694"/>
                  </a:cubicBezTo>
                  <a:lnTo>
                    <a:pt x="126318" y="402694"/>
                  </a:lnTo>
                  <a:cubicBezTo>
                    <a:pt x="92817" y="402694"/>
                    <a:pt x="60687" y="389386"/>
                    <a:pt x="36998" y="365696"/>
                  </a:cubicBezTo>
                  <a:cubicBezTo>
                    <a:pt x="13308" y="342007"/>
                    <a:pt x="0" y="309877"/>
                    <a:pt x="0" y="276376"/>
                  </a:cubicBezTo>
                  <a:lnTo>
                    <a:pt x="0" y="126318"/>
                  </a:lnTo>
                  <a:cubicBezTo>
                    <a:pt x="0" y="92817"/>
                    <a:pt x="13308" y="60687"/>
                    <a:pt x="36998" y="36998"/>
                  </a:cubicBezTo>
                  <a:cubicBezTo>
                    <a:pt x="60687" y="13308"/>
                    <a:pt x="92817" y="0"/>
                    <a:pt x="126318" y="0"/>
                  </a:cubicBezTo>
                  <a:close/>
                </a:path>
              </a:pathLst>
            </a:custGeom>
            <a:solidFill>
              <a:srgbClr val="553587"/>
            </a:solidFill>
          </p:spPr>
          <p:txBody>
            <a:bodyPr/>
            <a:lstStyle/>
            <a:p>
              <a:endParaRPr lang="en-US"/>
            </a:p>
          </p:txBody>
        </p:sp>
        <p:sp>
          <p:nvSpPr>
            <p:cNvPr id="11" name="TextBox 11"/>
            <p:cNvSpPr txBox="1"/>
            <p:nvPr/>
          </p:nvSpPr>
          <p:spPr>
            <a:xfrm>
              <a:off x="0" y="-57150"/>
              <a:ext cx="984489" cy="459844"/>
            </a:xfrm>
            <a:prstGeom prst="rect">
              <a:avLst/>
            </a:prstGeom>
          </p:spPr>
          <p:txBody>
            <a:bodyPr lIns="50800" tIns="50800" rIns="50800" bIns="50800" rtlCol="0" anchor="ctr"/>
            <a:lstStyle/>
            <a:p>
              <a:pPr algn="ctr">
                <a:lnSpc>
                  <a:spcPts val="4200"/>
                </a:lnSpc>
              </a:pPr>
              <a:r>
                <a:rPr lang="en-US" sz="3000" b="1">
                  <a:solidFill>
                    <a:srgbClr val="F8F8F8"/>
                  </a:solidFill>
                  <a:latin typeface="IBM Plex Sans Bold"/>
                  <a:ea typeface="IBM Plex Sans Bold"/>
                  <a:cs typeface="IBM Plex Sans Bold"/>
                  <a:sym typeface="IBM Plex Sans Bold"/>
                </a:rPr>
                <a:t>6/1</a:t>
              </a:r>
            </a:p>
          </p:txBody>
        </p:sp>
      </p:grpSp>
      <p:grpSp>
        <p:nvGrpSpPr>
          <p:cNvPr id="12" name="Group 12"/>
          <p:cNvGrpSpPr/>
          <p:nvPr/>
        </p:nvGrpSpPr>
        <p:grpSpPr>
          <a:xfrm>
            <a:off x="10954537" y="3738860"/>
            <a:ext cx="2444673" cy="1007482"/>
            <a:chOff x="0" y="0"/>
            <a:chExt cx="981723" cy="404581"/>
          </a:xfrm>
        </p:grpSpPr>
        <p:sp>
          <p:nvSpPr>
            <p:cNvPr id="13" name="Freeform 13"/>
            <p:cNvSpPr/>
            <p:nvPr/>
          </p:nvSpPr>
          <p:spPr>
            <a:xfrm>
              <a:off x="0" y="0"/>
              <a:ext cx="981723" cy="404581"/>
            </a:xfrm>
            <a:custGeom>
              <a:avLst/>
              <a:gdLst/>
              <a:ahLst/>
              <a:cxnLst/>
              <a:rect l="l" t="t" r="r" b="b"/>
              <a:pathLst>
                <a:path w="981723" h="404581">
                  <a:moveTo>
                    <a:pt x="126674" y="0"/>
                  </a:moveTo>
                  <a:lnTo>
                    <a:pt x="855049" y="0"/>
                  </a:lnTo>
                  <a:cubicBezTo>
                    <a:pt x="925009" y="0"/>
                    <a:pt x="981723" y="56714"/>
                    <a:pt x="981723" y="126674"/>
                  </a:cubicBezTo>
                  <a:lnTo>
                    <a:pt x="981723" y="277907"/>
                  </a:lnTo>
                  <a:cubicBezTo>
                    <a:pt x="981723" y="311503"/>
                    <a:pt x="968377" y="343723"/>
                    <a:pt x="944621" y="367479"/>
                  </a:cubicBezTo>
                  <a:cubicBezTo>
                    <a:pt x="920865" y="391235"/>
                    <a:pt x="888645" y="404581"/>
                    <a:pt x="855049" y="404581"/>
                  </a:cubicBezTo>
                  <a:lnTo>
                    <a:pt x="126674" y="404581"/>
                  </a:lnTo>
                  <a:cubicBezTo>
                    <a:pt x="93078" y="404581"/>
                    <a:pt x="60858" y="391235"/>
                    <a:pt x="37102" y="367479"/>
                  </a:cubicBezTo>
                  <a:cubicBezTo>
                    <a:pt x="13346" y="343723"/>
                    <a:pt x="0" y="311503"/>
                    <a:pt x="0" y="277907"/>
                  </a:cubicBezTo>
                  <a:lnTo>
                    <a:pt x="0" y="126674"/>
                  </a:lnTo>
                  <a:cubicBezTo>
                    <a:pt x="0" y="93078"/>
                    <a:pt x="13346" y="60858"/>
                    <a:pt x="37102" y="37102"/>
                  </a:cubicBezTo>
                  <a:cubicBezTo>
                    <a:pt x="60858" y="13346"/>
                    <a:pt x="93078" y="0"/>
                    <a:pt x="126674" y="0"/>
                  </a:cubicBezTo>
                  <a:close/>
                </a:path>
              </a:pathLst>
            </a:custGeom>
            <a:solidFill>
              <a:srgbClr val="553587"/>
            </a:solidFill>
          </p:spPr>
          <p:txBody>
            <a:bodyPr/>
            <a:lstStyle/>
            <a:p>
              <a:endParaRPr lang="en-US"/>
            </a:p>
          </p:txBody>
        </p:sp>
        <p:sp>
          <p:nvSpPr>
            <p:cNvPr id="14" name="TextBox 14"/>
            <p:cNvSpPr txBox="1"/>
            <p:nvPr/>
          </p:nvSpPr>
          <p:spPr>
            <a:xfrm>
              <a:off x="0" y="-57150"/>
              <a:ext cx="981723" cy="461731"/>
            </a:xfrm>
            <a:prstGeom prst="rect">
              <a:avLst/>
            </a:prstGeom>
          </p:spPr>
          <p:txBody>
            <a:bodyPr lIns="50800" tIns="50800" rIns="50800" bIns="50800" rtlCol="0" anchor="ctr"/>
            <a:lstStyle/>
            <a:p>
              <a:pPr algn="ctr">
                <a:lnSpc>
                  <a:spcPts val="4200"/>
                </a:lnSpc>
              </a:pPr>
              <a:r>
                <a:rPr lang="en-US" sz="3000" b="1">
                  <a:solidFill>
                    <a:srgbClr val="F8F8F8"/>
                  </a:solidFill>
                  <a:latin typeface="IBM Plex Sans Bold"/>
                  <a:ea typeface="IBM Plex Sans Bold"/>
                  <a:cs typeface="IBM Plex Sans Bold"/>
                  <a:sym typeface="IBM Plex Sans Bold"/>
                </a:rPr>
                <a:t>18/2</a:t>
              </a:r>
            </a:p>
          </p:txBody>
        </p:sp>
      </p:grpSp>
      <p:grpSp>
        <p:nvGrpSpPr>
          <p:cNvPr id="15" name="Group 15"/>
          <p:cNvGrpSpPr/>
          <p:nvPr/>
        </p:nvGrpSpPr>
        <p:grpSpPr>
          <a:xfrm>
            <a:off x="8268691" y="3738860"/>
            <a:ext cx="2441515" cy="1004090"/>
            <a:chOff x="0" y="0"/>
            <a:chExt cx="980455" cy="403219"/>
          </a:xfrm>
        </p:grpSpPr>
        <p:sp>
          <p:nvSpPr>
            <p:cNvPr id="16" name="Freeform 16"/>
            <p:cNvSpPr/>
            <p:nvPr/>
          </p:nvSpPr>
          <p:spPr>
            <a:xfrm>
              <a:off x="0" y="0"/>
              <a:ext cx="980455" cy="403219"/>
            </a:xfrm>
            <a:custGeom>
              <a:avLst/>
              <a:gdLst/>
              <a:ahLst/>
              <a:cxnLst/>
              <a:rect l="l" t="t" r="r" b="b"/>
              <a:pathLst>
                <a:path w="980455" h="403219">
                  <a:moveTo>
                    <a:pt x="126838" y="0"/>
                  </a:moveTo>
                  <a:lnTo>
                    <a:pt x="853617" y="0"/>
                  </a:lnTo>
                  <a:cubicBezTo>
                    <a:pt x="887256" y="0"/>
                    <a:pt x="919518" y="13363"/>
                    <a:pt x="943305" y="37150"/>
                  </a:cubicBezTo>
                  <a:cubicBezTo>
                    <a:pt x="967091" y="60937"/>
                    <a:pt x="980455" y="93198"/>
                    <a:pt x="980455" y="126838"/>
                  </a:cubicBezTo>
                  <a:lnTo>
                    <a:pt x="980455" y="276381"/>
                  </a:lnTo>
                  <a:cubicBezTo>
                    <a:pt x="980455" y="346431"/>
                    <a:pt x="923667" y="403219"/>
                    <a:pt x="853617" y="403219"/>
                  </a:cubicBezTo>
                  <a:lnTo>
                    <a:pt x="126838" y="403219"/>
                  </a:lnTo>
                  <a:cubicBezTo>
                    <a:pt x="56787" y="403219"/>
                    <a:pt x="0" y="346431"/>
                    <a:pt x="0" y="276381"/>
                  </a:cubicBezTo>
                  <a:lnTo>
                    <a:pt x="0" y="126838"/>
                  </a:lnTo>
                  <a:cubicBezTo>
                    <a:pt x="0" y="56787"/>
                    <a:pt x="56787" y="0"/>
                    <a:pt x="126838" y="0"/>
                  </a:cubicBezTo>
                  <a:close/>
                </a:path>
              </a:pathLst>
            </a:custGeom>
            <a:solidFill>
              <a:srgbClr val="8558CE"/>
            </a:solidFill>
          </p:spPr>
          <p:txBody>
            <a:bodyPr/>
            <a:lstStyle/>
            <a:p>
              <a:endParaRPr lang="en-US"/>
            </a:p>
          </p:txBody>
        </p:sp>
        <p:sp>
          <p:nvSpPr>
            <p:cNvPr id="17" name="TextBox 17"/>
            <p:cNvSpPr txBox="1"/>
            <p:nvPr/>
          </p:nvSpPr>
          <p:spPr>
            <a:xfrm>
              <a:off x="0" y="-57150"/>
              <a:ext cx="980455" cy="460369"/>
            </a:xfrm>
            <a:prstGeom prst="rect">
              <a:avLst/>
            </a:prstGeom>
          </p:spPr>
          <p:txBody>
            <a:bodyPr lIns="50800" tIns="50800" rIns="50800" bIns="50800" rtlCol="0" anchor="ctr"/>
            <a:lstStyle/>
            <a:p>
              <a:pPr algn="ctr">
                <a:lnSpc>
                  <a:spcPts val="4200"/>
                </a:lnSpc>
              </a:pPr>
              <a:r>
                <a:rPr lang="en-US" sz="3000" b="1">
                  <a:solidFill>
                    <a:srgbClr val="F8F8F8"/>
                  </a:solidFill>
                  <a:latin typeface="IBM Plex Sans Bold"/>
                  <a:ea typeface="IBM Plex Sans Bold"/>
                  <a:cs typeface="IBM Plex Sans Bold"/>
                  <a:sym typeface="IBM Plex Sans Bold"/>
                </a:rPr>
                <a:t>3/2</a:t>
              </a:r>
            </a:p>
          </p:txBody>
        </p:sp>
      </p:grpSp>
      <p:sp>
        <p:nvSpPr>
          <p:cNvPr id="18" name="AutoShape 18"/>
          <p:cNvSpPr/>
          <p:nvPr/>
        </p:nvSpPr>
        <p:spPr>
          <a:xfrm>
            <a:off x="4071264" y="4746343"/>
            <a:ext cx="1697" cy="2972362"/>
          </a:xfrm>
          <a:prstGeom prst="line">
            <a:avLst/>
          </a:prstGeom>
          <a:ln w="9525" cap="flat">
            <a:solidFill>
              <a:srgbClr val="01003B"/>
            </a:solidFill>
            <a:prstDash val="solid"/>
            <a:headEnd type="none" w="sm" len="sm"/>
            <a:tailEnd type="none" w="sm" len="sm"/>
          </a:ln>
        </p:spPr>
        <p:txBody>
          <a:bodyPr/>
          <a:lstStyle/>
          <a:p>
            <a:endParaRPr lang="en-US"/>
          </a:p>
        </p:txBody>
      </p:sp>
      <p:sp>
        <p:nvSpPr>
          <p:cNvPr id="19" name="AutoShape 19"/>
          <p:cNvSpPr/>
          <p:nvPr/>
        </p:nvSpPr>
        <p:spPr>
          <a:xfrm flipH="1">
            <a:off x="6782436" y="4741643"/>
            <a:ext cx="3299" cy="2977067"/>
          </a:xfrm>
          <a:prstGeom prst="line">
            <a:avLst/>
          </a:prstGeom>
          <a:ln w="9525" cap="flat">
            <a:solidFill>
              <a:srgbClr val="01003B"/>
            </a:solidFill>
            <a:prstDash val="solid"/>
            <a:headEnd type="none" w="sm" len="sm"/>
            <a:tailEnd type="none" w="sm" len="sm"/>
          </a:ln>
        </p:spPr>
        <p:txBody>
          <a:bodyPr/>
          <a:lstStyle/>
          <a:p>
            <a:endParaRPr lang="en-US"/>
          </a:p>
        </p:txBody>
      </p:sp>
      <p:sp>
        <p:nvSpPr>
          <p:cNvPr id="20" name="AutoShape 20"/>
          <p:cNvSpPr/>
          <p:nvPr/>
        </p:nvSpPr>
        <p:spPr>
          <a:xfrm>
            <a:off x="9489448" y="4742950"/>
            <a:ext cx="9525" cy="2975755"/>
          </a:xfrm>
          <a:prstGeom prst="line">
            <a:avLst/>
          </a:prstGeom>
          <a:ln w="9525" cap="flat">
            <a:solidFill>
              <a:srgbClr val="01003B"/>
            </a:solidFill>
            <a:prstDash val="solid"/>
            <a:headEnd type="none" w="sm" len="sm"/>
            <a:tailEnd type="none" w="sm" len="sm"/>
          </a:ln>
        </p:spPr>
        <p:txBody>
          <a:bodyPr/>
          <a:lstStyle/>
          <a:p>
            <a:endParaRPr lang="en-US"/>
          </a:p>
        </p:txBody>
      </p:sp>
      <p:sp>
        <p:nvSpPr>
          <p:cNvPr id="21" name="TextBox 21"/>
          <p:cNvSpPr txBox="1"/>
          <p:nvPr/>
        </p:nvSpPr>
        <p:spPr>
          <a:xfrm>
            <a:off x="2986154" y="7671080"/>
            <a:ext cx="2173612" cy="2082165"/>
          </a:xfrm>
          <a:prstGeom prst="rect">
            <a:avLst/>
          </a:prstGeom>
        </p:spPr>
        <p:txBody>
          <a:bodyPr lIns="0" tIns="0" rIns="0" bIns="0" rtlCol="0" anchor="t">
            <a:spAutoFit/>
          </a:bodyPr>
          <a:lstStyle/>
          <a:p>
            <a:pPr algn="ctr">
              <a:lnSpc>
                <a:spcPts val="3359"/>
              </a:lnSpc>
            </a:pPr>
            <a:r>
              <a:rPr lang="en-US" sz="2400">
                <a:solidFill>
                  <a:srgbClr val="FFFFFF"/>
                </a:solidFill>
                <a:latin typeface="IBM Plex Sans"/>
                <a:ea typeface="IBM Plex Sans"/>
                <a:cs typeface="IBM Plex Sans"/>
                <a:sym typeface="IBM Plex Sans"/>
              </a:rPr>
              <a:t>Project</a:t>
            </a:r>
          </a:p>
          <a:p>
            <a:pPr algn="ctr">
              <a:lnSpc>
                <a:spcPts val="3359"/>
              </a:lnSpc>
            </a:pPr>
            <a:r>
              <a:rPr lang="en-US" sz="2400">
                <a:solidFill>
                  <a:srgbClr val="FFFFFF"/>
                </a:solidFill>
                <a:latin typeface="IBM Plex Sans"/>
                <a:ea typeface="IBM Plex Sans"/>
                <a:cs typeface="IBM Plex Sans"/>
                <a:sym typeface="IBM Plex Sans"/>
              </a:rPr>
              <a:t> initiation and communication with stakeholders</a:t>
            </a:r>
          </a:p>
        </p:txBody>
      </p:sp>
      <p:sp>
        <p:nvSpPr>
          <p:cNvPr id="22" name="TextBox 22"/>
          <p:cNvSpPr txBox="1"/>
          <p:nvPr/>
        </p:nvSpPr>
        <p:spPr>
          <a:xfrm>
            <a:off x="5695630" y="7671085"/>
            <a:ext cx="2173612" cy="1243965"/>
          </a:xfrm>
          <a:prstGeom prst="rect">
            <a:avLst/>
          </a:prstGeom>
        </p:spPr>
        <p:txBody>
          <a:bodyPr lIns="0" tIns="0" rIns="0" bIns="0" rtlCol="0" anchor="t">
            <a:spAutoFit/>
          </a:bodyPr>
          <a:lstStyle/>
          <a:p>
            <a:pPr algn="ctr">
              <a:lnSpc>
                <a:spcPts val="3359"/>
              </a:lnSpc>
            </a:pPr>
            <a:r>
              <a:rPr lang="en-US" sz="2400">
                <a:solidFill>
                  <a:srgbClr val="FFFFFF"/>
                </a:solidFill>
                <a:latin typeface="IBM Plex Sans"/>
                <a:ea typeface="IBM Plex Sans"/>
                <a:cs typeface="IBM Plex Sans"/>
                <a:sym typeface="IBM Plex Sans"/>
              </a:rPr>
              <a:t>The establisment of data centers</a:t>
            </a:r>
          </a:p>
        </p:txBody>
      </p:sp>
      <p:sp>
        <p:nvSpPr>
          <p:cNvPr id="23" name="TextBox 23"/>
          <p:cNvSpPr txBox="1"/>
          <p:nvPr/>
        </p:nvSpPr>
        <p:spPr>
          <a:xfrm>
            <a:off x="8412167" y="7671080"/>
            <a:ext cx="2173612" cy="1243965"/>
          </a:xfrm>
          <a:prstGeom prst="rect">
            <a:avLst/>
          </a:prstGeom>
        </p:spPr>
        <p:txBody>
          <a:bodyPr lIns="0" tIns="0" rIns="0" bIns="0" rtlCol="0" anchor="t">
            <a:spAutoFit/>
          </a:bodyPr>
          <a:lstStyle/>
          <a:p>
            <a:pPr algn="ctr">
              <a:lnSpc>
                <a:spcPts val="3359"/>
              </a:lnSpc>
            </a:pPr>
            <a:r>
              <a:rPr lang="en-US" sz="2400">
                <a:solidFill>
                  <a:srgbClr val="FFFFFF"/>
                </a:solidFill>
                <a:latin typeface="IBM Plex Sans"/>
                <a:ea typeface="IBM Plex Sans"/>
                <a:cs typeface="IBM Plex Sans"/>
                <a:sym typeface="IBM Plex Sans"/>
              </a:rPr>
              <a:t>Prototype Delivery and feedback </a:t>
            </a:r>
          </a:p>
        </p:txBody>
      </p:sp>
      <p:sp>
        <p:nvSpPr>
          <p:cNvPr id="24" name="TextBox 24"/>
          <p:cNvSpPr txBox="1"/>
          <p:nvPr/>
        </p:nvSpPr>
        <p:spPr>
          <a:xfrm>
            <a:off x="11119179" y="7671080"/>
            <a:ext cx="2173612" cy="824865"/>
          </a:xfrm>
          <a:prstGeom prst="rect">
            <a:avLst/>
          </a:prstGeom>
        </p:spPr>
        <p:txBody>
          <a:bodyPr lIns="0" tIns="0" rIns="0" bIns="0" rtlCol="0" anchor="t">
            <a:spAutoFit/>
          </a:bodyPr>
          <a:lstStyle/>
          <a:p>
            <a:pPr algn="ctr">
              <a:lnSpc>
                <a:spcPts val="3359"/>
              </a:lnSpc>
            </a:pPr>
            <a:r>
              <a:rPr lang="en-US" sz="2400">
                <a:solidFill>
                  <a:srgbClr val="FFFFFF"/>
                </a:solidFill>
                <a:latin typeface="IBM Plex Sans"/>
                <a:ea typeface="IBM Plex Sans"/>
                <a:cs typeface="IBM Plex Sans"/>
                <a:sym typeface="IBM Plex Sans"/>
              </a:rPr>
              <a:t>Integration and Testing</a:t>
            </a:r>
          </a:p>
        </p:txBody>
      </p:sp>
      <p:sp>
        <p:nvSpPr>
          <p:cNvPr id="25" name="AutoShape 25"/>
          <p:cNvSpPr/>
          <p:nvPr/>
        </p:nvSpPr>
        <p:spPr>
          <a:xfrm>
            <a:off x="12176873" y="4746343"/>
            <a:ext cx="25746" cy="2972362"/>
          </a:xfrm>
          <a:prstGeom prst="line">
            <a:avLst/>
          </a:prstGeom>
          <a:ln w="9525" cap="flat">
            <a:solidFill>
              <a:srgbClr val="01003B"/>
            </a:solidFill>
            <a:prstDash val="solid"/>
            <a:headEnd type="none" w="sm" len="sm"/>
            <a:tailEnd type="none" w="sm" len="sm"/>
          </a:ln>
        </p:spPr>
        <p:txBody>
          <a:bodyPr/>
          <a:lstStyle/>
          <a:p>
            <a:endParaRPr lang="en-US"/>
          </a:p>
        </p:txBody>
      </p:sp>
      <p:grpSp>
        <p:nvGrpSpPr>
          <p:cNvPr id="26" name="Group 26"/>
          <p:cNvGrpSpPr/>
          <p:nvPr/>
        </p:nvGrpSpPr>
        <p:grpSpPr>
          <a:xfrm>
            <a:off x="13789850" y="3734161"/>
            <a:ext cx="2444673" cy="1007482"/>
            <a:chOff x="0" y="0"/>
            <a:chExt cx="981723" cy="404581"/>
          </a:xfrm>
        </p:grpSpPr>
        <p:sp>
          <p:nvSpPr>
            <p:cNvPr id="27" name="Freeform 27"/>
            <p:cNvSpPr/>
            <p:nvPr/>
          </p:nvSpPr>
          <p:spPr>
            <a:xfrm>
              <a:off x="0" y="0"/>
              <a:ext cx="981723" cy="404581"/>
            </a:xfrm>
            <a:custGeom>
              <a:avLst/>
              <a:gdLst/>
              <a:ahLst/>
              <a:cxnLst/>
              <a:rect l="l" t="t" r="r" b="b"/>
              <a:pathLst>
                <a:path w="981723" h="404581">
                  <a:moveTo>
                    <a:pt x="126674" y="0"/>
                  </a:moveTo>
                  <a:lnTo>
                    <a:pt x="855049" y="0"/>
                  </a:lnTo>
                  <a:cubicBezTo>
                    <a:pt x="925009" y="0"/>
                    <a:pt x="981723" y="56714"/>
                    <a:pt x="981723" y="126674"/>
                  </a:cubicBezTo>
                  <a:lnTo>
                    <a:pt x="981723" y="277907"/>
                  </a:lnTo>
                  <a:cubicBezTo>
                    <a:pt x="981723" y="311503"/>
                    <a:pt x="968377" y="343723"/>
                    <a:pt x="944621" y="367479"/>
                  </a:cubicBezTo>
                  <a:cubicBezTo>
                    <a:pt x="920865" y="391235"/>
                    <a:pt x="888645" y="404581"/>
                    <a:pt x="855049" y="404581"/>
                  </a:cubicBezTo>
                  <a:lnTo>
                    <a:pt x="126674" y="404581"/>
                  </a:lnTo>
                  <a:cubicBezTo>
                    <a:pt x="93078" y="404581"/>
                    <a:pt x="60858" y="391235"/>
                    <a:pt x="37102" y="367479"/>
                  </a:cubicBezTo>
                  <a:cubicBezTo>
                    <a:pt x="13346" y="343723"/>
                    <a:pt x="0" y="311503"/>
                    <a:pt x="0" y="277907"/>
                  </a:cubicBezTo>
                  <a:lnTo>
                    <a:pt x="0" y="126674"/>
                  </a:lnTo>
                  <a:cubicBezTo>
                    <a:pt x="0" y="93078"/>
                    <a:pt x="13346" y="60858"/>
                    <a:pt x="37102" y="37102"/>
                  </a:cubicBezTo>
                  <a:cubicBezTo>
                    <a:pt x="60858" y="13346"/>
                    <a:pt x="93078" y="0"/>
                    <a:pt x="126674" y="0"/>
                  </a:cubicBezTo>
                  <a:close/>
                </a:path>
              </a:pathLst>
            </a:custGeom>
            <a:solidFill>
              <a:srgbClr val="A685E2"/>
            </a:solidFill>
          </p:spPr>
          <p:txBody>
            <a:bodyPr/>
            <a:lstStyle/>
            <a:p>
              <a:endParaRPr lang="en-US"/>
            </a:p>
          </p:txBody>
        </p:sp>
        <p:sp>
          <p:nvSpPr>
            <p:cNvPr id="28" name="TextBox 28"/>
            <p:cNvSpPr txBox="1"/>
            <p:nvPr/>
          </p:nvSpPr>
          <p:spPr>
            <a:xfrm>
              <a:off x="0" y="-57150"/>
              <a:ext cx="981723" cy="461731"/>
            </a:xfrm>
            <a:prstGeom prst="rect">
              <a:avLst/>
            </a:prstGeom>
          </p:spPr>
          <p:txBody>
            <a:bodyPr lIns="50800" tIns="50800" rIns="50800" bIns="50800" rtlCol="0" anchor="ctr"/>
            <a:lstStyle/>
            <a:p>
              <a:pPr algn="ctr">
                <a:lnSpc>
                  <a:spcPts val="4200"/>
                </a:lnSpc>
              </a:pPr>
              <a:r>
                <a:rPr lang="en-US" sz="3000" b="1">
                  <a:solidFill>
                    <a:srgbClr val="F8F8F8"/>
                  </a:solidFill>
                  <a:latin typeface="IBM Plex Sans Bold"/>
                  <a:ea typeface="IBM Plex Sans Bold"/>
                  <a:cs typeface="IBM Plex Sans Bold"/>
                  <a:sym typeface="IBM Plex Sans Bold"/>
                </a:rPr>
                <a:t>1/3</a:t>
              </a:r>
            </a:p>
          </p:txBody>
        </p:sp>
      </p:grpSp>
      <p:sp>
        <p:nvSpPr>
          <p:cNvPr id="29" name="TextBox 29"/>
          <p:cNvSpPr txBox="1"/>
          <p:nvPr/>
        </p:nvSpPr>
        <p:spPr>
          <a:xfrm>
            <a:off x="13955889" y="7492015"/>
            <a:ext cx="2173612" cy="824865"/>
          </a:xfrm>
          <a:prstGeom prst="rect">
            <a:avLst/>
          </a:prstGeom>
        </p:spPr>
        <p:txBody>
          <a:bodyPr lIns="0" tIns="0" rIns="0" bIns="0" rtlCol="0" anchor="t">
            <a:spAutoFit/>
          </a:bodyPr>
          <a:lstStyle/>
          <a:p>
            <a:pPr algn="ctr">
              <a:lnSpc>
                <a:spcPts val="3359"/>
              </a:lnSpc>
            </a:pPr>
            <a:r>
              <a:rPr lang="en-US" sz="2400">
                <a:solidFill>
                  <a:srgbClr val="FFFFFF"/>
                </a:solidFill>
                <a:latin typeface="IBM Plex Sans"/>
                <a:ea typeface="IBM Plex Sans"/>
                <a:cs typeface="IBM Plex Sans"/>
                <a:sym typeface="IBM Plex Sans"/>
              </a:rPr>
              <a:t>Final Review and feedback</a:t>
            </a:r>
          </a:p>
        </p:txBody>
      </p:sp>
      <p:sp>
        <p:nvSpPr>
          <p:cNvPr id="30" name="AutoShape 30"/>
          <p:cNvSpPr/>
          <p:nvPr/>
        </p:nvSpPr>
        <p:spPr>
          <a:xfrm>
            <a:off x="15016949" y="4741685"/>
            <a:ext cx="25746" cy="2972362"/>
          </a:xfrm>
          <a:prstGeom prst="line">
            <a:avLst/>
          </a:prstGeom>
          <a:ln w="9525" cap="flat">
            <a:solidFill>
              <a:srgbClr val="01003B"/>
            </a:solidFill>
            <a:prstDash val="solid"/>
            <a:headEnd type="none" w="sm" len="sm"/>
            <a:tailEnd type="none" w="sm" len="sm"/>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202127">
                <a:alpha val="100000"/>
              </a:srgbClr>
            </a:gs>
            <a:gs pos="100000">
              <a:srgbClr val="17181B">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9675671" y="1298323"/>
            <a:ext cx="7358557" cy="7959977"/>
          </a:xfrm>
          <a:custGeom>
            <a:avLst/>
            <a:gdLst/>
            <a:ahLst/>
            <a:cxnLst/>
            <a:rect l="l" t="t" r="r" b="b"/>
            <a:pathLst>
              <a:path w="7358557" h="7959977">
                <a:moveTo>
                  <a:pt x="0" y="0"/>
                </a:moveTo>
                <a:lnTo>
                  <a:pt x="7358557" y="0"/>
                </a:lnTo>
                <a:lnTo>
                  <a:pt x="7358557" y="7959977"/>
                </a:lnTo>
                <a:lnTo>
                  <a:pt x="0" y="7959977"/>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1853934" y="1298323"/>
            <a:ext cx="2916470" cy="3604808"/>
            <a:chOff x="0" y="0"/>
            <a:chExt cx="812800" cy="1004635"/>
          </a:xfrm>
        </p:grpSpPr>
        <p:sp>
          <p:nvSpPr>
            <p:cNvPr id="4" name="Freeform 4"/>
            <p:cNvSpPr/>
            <p:nvPr/>
          </p:nvSpPr>
          <p:spPr>
            <a:xfrm>
              <a:off x="0" y="0"/>
              <a:ext cx="812800" cy="1004635"/>
            </a:xfrm>
            <a:custGeom>
              <a:avLst/>
              <a:gdLst/>
              <a:ahLst/>
              <a:cxnLst/>
              <a:rect l="l" t="t" r="r" b="b"/>
              <a:pathLst>
                <a:path w="812800" h="1004635">
                  <a:moveTo>
                    <a:pt x="0" y="0"/>
                  </a:moveTo>
                  <a:lnTo>
                    <a:pt x="812800" y="0"/>
                  </a:lnTo>
                  <a:lnTo>
                    <a:pt x="812800" y="1004635"/>
                  </a:lnTo>
                  <a:lnTo>
                    <a:pt x="0" y="1004635"/>
                  </a:lnTo>
                  <a:close/>
                </a:path>
              </a:pathLst>
            </a:custGeom>
            <a:blipFill>
              <a:blip r:embed="rId3"/>
              <a:stretch>
                <a:fillRect l="-18382" r="-18382"/>
              </a:stretch>
            </a:blipFill>
          </p:spPr>
          <p:txBody>
            <a:bodyPr/>
            <a:lstStyle/>
            <a:p>
              <a:endParaRPr lang="en-US"/>
            </a:p>
          </p:txBody>
        </p:sp>
      </p:grpSp>
      <p:sp>
        <p:nvSpPr>
          <p:cNvPr id="5" name="Freeform 5"/>
          <p:cNvSpPr/>
          <p:nvPr/>
        </p:nvSpPr>
        <p:spPr>
          <a:xfrm>
            <a:off x="188265" y="6224729"/>
            <a:ext cx="4391016" cy="3711271"/>
          </a:xfrm>
          <a:custGeom>
            <a:avLst/>
            <a:gdLst/>
            <a:ahLst/>
            <a:cxnLst/>
            <a:rect l="l" t="t" r="r" b="b"/>
            <a:pathLst>
              <a:path w="4391016" h="3711271">
                <a:moveTo>
                  <a:pt x="0" y="0"/>
                </a:moveTo>
                <a:lnTo>
                  <a:pt x="4391016" y="0"/>
                </a:lnTo>
                <a:lnTo>
                  <a:pt x="4391016" y="3711271"/>
                </a:lnTo>
                <a:lnTo>
                  <a:pt x="0" y="3711271"/>
                </a:lnTo>
                <a:lnTo>
                  <a:pt x="0" y="0"/>
                </a:lnTo>
                <a:close/>
              </a:path>
            </a:pathLst>
          </a:custGeom>
          <a:blipFill>
            <a:blip r:embed="rId4"/>
            <a:stretch>
              <a:fillRect l="-2076" t="-3953" r="-29797"/>
            </a:stretch>
          </a:blipFill>
        </p:spPr>
        <p:txBody>
          <a:bodyPr/>
          <a:lstStyle/>
          <a:p>
            <a:endParaRPr lang="en-US"/>
          </a:p>
        </p:txBody>
      </p:sp>
      <p:sp>
        <p:nvSpPr>
          <p:cNvPr id="6" name="Freeform 6"/>
          <p:cNvSpPr/>
          <p:nvPr/>
        </p:nvSpPr>
        <p:spPr>
          <a:xfrm>
            <a:off x="5370047" y="3377968"/>
            <a:ext cx="2790338" cy="3800687"/>
          </a:xfrm>
          <a:custGeom>
            <a:avLst/>
            <a:gdLst/>
            <a:ahLst/>
            <a:cxnLst/>
            <a:rect l="l" t="t" r="r" b="b"/>
            <a:pathLst>
              <a:path w="2790338" h="3800687">
                <a:moveTo>
                  <a:pt x="0" y="0"/>
                </a:moveTo>
                <a:lnTo>
                  <a:pt x="2790339" y="0"/>
                </a:lnTo>
                <a:lnTo>
                  <a:pt x="2790339" y="3800687"/>
                </a:lnTo>
                <a:lnTo>
                  <a:pt x="0" y="380068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202127">
                <a:alpha val="100000"/>
              </a:srgbClr>
            </a:gs>
            <a:gs pos="100000">
              <a:srgbClr val="17181B">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2173640" y="4597027"/>
            <a:ext cx="6208360" cy="1524010"/>
          </a:xfrm>
          <a:prstGeom prst="rect">
            <a:avLst/>
          </a:prstGeom>
        </p:spPr>
        <p:txBody>
          <a:bodyPr wrap="square" lIns="0" tIns="0" rIns="0" bIns="0" rtlCol="0" anchor="t">
            <a:spAutoFit/>
          </a:bodyPr>
          <a:lstStyle/>
          <a:p>
            <a:pPr algn="ctr">
              <a:lnSpc>
                <a:spcPts val="12599"/>
              </a:lnSpc>
            </a:pPr>
            <a:r>
              <a:rPr lang="en-US" sz="8999" b="1" dirty="0">
                <a:solidFill>
                  <a:srgbClr val="FFFFFF"/>
                </a:solidFill>
                <a:latin typeface="Canva Sans Bold"/>
                <a:ea typeface="Canva Sans Bold"/>
                <a:cs typeface="Canva Sans Bold"/>
                <a:sym typeface="Canva Sans Bold"/>
              </a:rPr>
              <a:t>Summary</a:t>
            </a:r>
          </a:p>
        </p:txBody>
      </p:sp>
      <p:sp>
        <p:nvSpPr>
          <p:cNvPr id="3" name="TextBox 3"/>
          <p:cNvSpPr txBox="1"/>
          <p:nvPr/>
        </p:nvSpPr>
        <p:spPr>
          <a:xfrm>
            <a:off x="10011726" y="3661140"/>
            <a:ext cx="7247574" cy="3491033"/>
          </a:xfrm>
          <a:prstGeom prst="rect">
            <a:avLst/>
          </a:prstGeom>
        </p:spPr>
        <p:txBody>
          <a:bodyPr lIns="0" tIns="0" rIns="0" bIns="0" rtlCol="0" anchor="t">
            <a:spAutoFit/>
          </a:bodyPr>
          <a:lstStyle/>
          <a:p>
            <a:pPr algn="ctr">
              <a:lnSpc>
                <a:spcPts val="4608"/>
              </a:lnSpc>
            </a:pPr>
            <a:r>
              <a:rPr lang="en-US" sz="3291">
                <a:solidFill>
                  <a:srgbClr val="FFFFFF"/>
                </a:solidFill>
                <a:latin typeface="IBM Plex Sans"/>
                <a:ea typeface="IBM Plex Sans"/>
                <a:cs typeface="IBM Plex Sans"/>
                <a:sym typeface="IBM Plex Sans"/>
              </a:rPr>
              <a:t>This project aims to address the needs of Al Haramain Hospital and Salma Medical Center by enhancing diagnostic accuracy, operational efficiency, and patient outcomes. </a:t>
            </a:r>
          </a:p>
          <a:p>
            <a:pPr algn="ctr">
              <a:lnSpc>
                <a:spcPts val="4608"/>
              </a:lnSpc>
              <a:spcBef>
                <a:spcPct val="0"/>
              </a:spcBef>
            </a:pPr>
            <a:endParaRPr lang="en-US" sz="3291">
              <a:solidFill>
                <a:srgbClr val="FFFFFF"/>
              </a:solidFill>
              <a:latin typeface="IBM Plex Sans"/>
              <a:ea typeface="IBM Plex Sans"/>
              <a:cs typeface="IBM Plex Sans"/>
              <a:sym typeface="IBM Plex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202127">
                <a:alpha val="100000"/>
              </a:srgbClr>
            </a:gs>
            <a:gs pos="100000">
              <a:srgbClr val="17181B">
                <a:alpha val="100000"/>
              </a:srgbClr>
            </a:gs>
          </a:gsLst>
          <a:lin ang="0"/>
        </a:gradFill>
        <a:effectLst/>
      </p:bgPr>
    </p:bg>
    <p:spTree>
      <p:nvGrpSpPr>
        <p:cNvPr id="1" name=""/>
        <p:cNvGrpSpPr/>
        <p:nvPr/>
      </p:nvGrpSpPr>
      <p:grpSpPr>
        <a:xfrm>
          <a:off x="0" y="0"/>
          <a:ext cx="0" cy="0"/>
          <a:chOff x="0" y="0"/>
          <a:chExt cx="0" cy="0"/>
        </a:xfrm>
      </p:grpSpPr>
      <p:sp>
        <p:nvSpPr>
          <p:cNvPr id="4" name="TextBox 4"/>
          <p:cNvSpPr txBox="1"/>
          <p:nvPr/>
        </p:nvSpPr>
        <p:spPr>
          <a:xfrm>
            <a:off x="8802957" y="-1442027"/>
            <a:ext cx="9445742" cy="10263162"/>
          </a:xfrm>
          <a:prstGeom prst="rect">
            <a:avLst/>
          </a:prstGeom>
        </p:spPr>
        <p:txBody>
          <a:bodyPr lIns="50800" tIns="50800" rIns="50800" bIns="50800" rtlCol="0" anchor="ctr"/>
          <a:lstStyle/>
          <a:p>
            <a:pPr algn="ctr">
              <a:lnSpc>
                <a:spcPts val="3080"/>
              </a:lnSpc>
            </a:pPr>
            <a:endParaRPr/>
          </a:p>
        </p:txBody>
      </p:sp>
      <p:sp>
        <p:nvSpPr>
          <p:cNvPr id="5" name="TextBox 5"/>
          <p:cNvSpPr txBox="1"/>
          <p:nvPr/>
        </p:nvSpPr>
        <p:spPr>
          <a:xfrm>
            <a:off x="2703598" y="3203897"/>
            <a:ext cx="12880804" cy="3591361"/>
          </a:xfrm>
          <a:prstGeom prst="rect">
            <a:avLst/>
          </a:prstGeom>
        </p:spPr>
        <p:txBody>
          <a:bodyPr lIns="0" tIns="0" rIns="0" bIns="0" rtlCol="0" anchor="t">
            <a:spAutoFit/>
          </a:bodyPr>
          <a:lstStyle/>
          <a:p>
            <a:pPr algn="ctr">
              <a:lnSpc>
                <a:spcPts val="13213"/>
              </a:lnSpc>
            </a:pPr>
            <a:r>
              <a:rPr lang="en-US" sz="13764" b="1" spc="-701">
                <a:solidFill>
                  <a:srgbClr val="FFFFFF"/>
                </a:solidFill>
                <a:latin typeface="Poppins Semi-Bold"/>
                <a:ea typeface="Poppins Semi-Bold"/>
                <a:cs typeface="Poppins Semi-Bold"/>
                <a:sym typeface="Poppins Semi-Bold"/>
              </a:rPr>
              <a:t>STAY SAFE</a:t>
            </a:r>
          </a:p>
          <a:p>
            <a:pPr algn="ctr">
              <a:lnSpc>
                <a:spcPts val="13213"/>
              </a:lnSpc>
            </a:pPr>
            <a:r>
              <a:rPr lang="en-US" sz="13764" b="1" spc="-701">
                <a:solidFill>
                  <a:srgbClr val="FFFFFF"/>
                </a:solidFill>
                <a:latin typeface="Poppins Semi-Bold"/>
                <a:ea typeface="Poppins Semi-Bold"/>
                <a:cs typeface="Poppins Semi-Bold"/>
                <a:sym typeface="Poppins Semi-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271</Words>
  <Application>Microsoft Office PowerPoint</Application>
  <PresentationFormat>Custom</PresentationFormat>
  <Paragraphs>51</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Poppins</vt:lpstr>
      <vt:lpstr>IBM Plex Sans Bold</vt:lpstr>
      <vt:lpstr>Arial</vt:lpstr>
      <vt:lpstr>Calibri</vt:lpstr>
      <vt:lpstr>IBM Plex Sans</vt:lpstr>
      <vt:lpstr>Poppins Bold</vt:lpstr>
      <vt:lpstr>Poppins Semi-Bold</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Purple Modern Company Performance Overview Presentation</dc:title>
  <dc:creator>rania mukahal</dc:creator>
  <cp:lastModifiedBy>rania mukahal</cp:lastModifiedBy>
  <cp:revision>2</cp:revision>
  <dcterms:created xsi:type="dcterms:W3CDTF">2006-08-16T00:00:00Z</dcterms:created>
  <dcterms:modified xsi:type="dcterms:W3CDTF">2025-01-27T15:28:10Z</dcterms:modified>
  <dc:identifier>DAGdOQp2dZc</dc:identifier>
</cp:coreProperties>
</file>